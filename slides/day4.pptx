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365760"/>
            <a:ext cx="11612880" cy="365760"/>
          </a:xfrm>
          <a:prstGeom prst="rect">
            <a:avLst/>
          </a:prstGeom>
          <a:solidFill>
            <a:srgbClr val="181825"/>
          </a:solidFill>
          <a:ln w="6350">
            <a:solidFill>
              <a:srgbClr val="4547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484632"/>
            <a:ext cx="128016" cy="128016"/>
          </a:xfrm>
          <a:prstGeom prst="ellipse">
            <a:avLst/>
          </a:prstGeom>
          <a:solidFill>
            <a:srgbClr val="F38BA8"/>
          </a:solidFill>
          <a:ln w="12700">
            <a:solidFill>
              <a:srgbClr val="F38BA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484632"/>
            <a:ext cx="128016" cy="128016"/>
          </a:xfrm>
          <a:prstGeom prst="ellipse">
            <a:avLst/>
          </a:prstGeom>
          <a:solidFill>
            <a:srgbClr val="F9E2AF"/>
          </a:solidFill>
          <a:ln w="12700">
            <a:solidFill>
              <a:srgbClr val="F9E2A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484632"/>
            <a:ext cx="128016" cy="128016"/>
          </a:xfrm>
          <a:prstGeom prst="ellipse">
            <a:avLst/>
          </a:prstGeom>
          <a:solidFill>
            <a:srgbClr val="A6E3A1"/>
          </a:solidFill>
          <a:ln w="12700">
            <a:solidFill>
              <a:srgbClr val="A6E3A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11480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6AD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~/day_04_solo_challenge.py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097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─────────────────────────────────────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no mentors. just you, your tools, and a real problem.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192024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spc="200" kern="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04</a:t>
            </a:r>
            <a:endParaRPr lang="en-US" sz="7600" dirty="0"/>
          </a:p>
        </p:txBody>
      </p:sp>
      <p:sp>
        <p:nvSpPr>
          <p:cNvPr id="10" name="Text 8"/>
          <p:cNvSpPr/>
          <p:nvPr/>
        </p:nvSpPr>
        <p:spPr>
          <a:xfrm>
            <a:off x="640080" y="33375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─────────────────────────────────────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" y="3794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</a:t>
            </a:r>
            <a:pPr indent="0" marL="0">
              <a:buNone/>
            </a:pPr>
            <a:r>
              <a:rPr lang="en-US" sz="22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buNone/>
            </a:pPr>
            <a:r>
              <a:rPr lang="en-US" sz="22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"Solo Challenge"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40080" y="4389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dataset</a:t>
            </a:r>
            <a:pPr indent="0" marL="0">
              <a:buNone/>
            </a:pPr>
            <a:r>
              <a:rPr lang="en-US" sz="22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buNone/>
            </a:pPr>
            <a:r>
              <a:rPr lang="en-US" sz="22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"UCI Student Performance, Math"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0080" y="5074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&gt;&gt;&gt;</a:t>
            </a:r>
            <a:pPr indent="0" marL="0">
              <a:buNone/>
            </a:pPr>
            <a:r>
              <a:rPr lang="en-US" sz="2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challenge.begin()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CREED  //  Fountain of Love RCCG  //  Aberdeen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what_changes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changes today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166360" cy="3931920"/>
          </a:xfrm>
          <a:prstGeom prst="roundRect">
            <a:avLst>
              <a:gd name="adj" fmla="val 2326"/>
            </a:avLst>
          </a:prstGeom>
          <a:solidFill>
            <a:srgbClr val="313244"/>
          </a:solidFill>
          <a:ln w="6350">
            <a:solidFill>
              <a:srgbClr val="6C70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6596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last three days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33172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6AD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Mentor-guided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05840" y="301752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5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said "now try this"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352044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5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followed along, step by step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05840" y="402336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5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Stuck? Hand goes up, help comes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05840" y="452628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5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 the path together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355080" y="1828800"/>
            <a:ext cx="5166360" cy="3931920"/>
          </a:xfrm>
          <a:prstGeom prst="roundRect">
            <a:avLst>
              <a:gd name="adj" fmla="val 2326"/>
            </a:avLst>
          </a:prstGeom>
          <a:solidFill>
            <a:srgbClr val="313244"/>
          </a:solidFill>
          <a:ln w="19050">
            <a:solidFill>
              <a:srgbClr val="CBA6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9400" y="196596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today and tomorrow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29400" y="233172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 decide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720840" y="301752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A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5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give you a problem and walk away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720840" y="352044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A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5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model? Which metric? Your call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720840" y="402336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A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5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Mentors debug errors, not decisions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720840" y="452628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A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5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walk your own path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7432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BUILD_THE_FUTURE.py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04  //  02 / 13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two_day_overview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Two days, one project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166360" cy="4206240"/>
          </a:xfrm>
          <a:prstGeom prst="roundRect">
            <a:avLst>
              <a:gd name="adj" fmla="val 2174"/>
            </a:avLst>
          </a:prstGeom>
          <a:solidFill>
            <a:srgbClr val="313244"/>
          </a:solidFill>
          <a:ln w="19050">
            <a:solidFill>
              <a:srgbClr val="FAB38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20240"/>
            <a:ext cx="4617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day 04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240280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005840" y="30175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10:00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011680" y="301752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Briefing (these slides)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3474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10:30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011680" y="347472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the dataset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11:30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011680" y="393192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model trained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43891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12:30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011680" y="438912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Lunch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05840" y="4846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13:00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011680" y="484632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model + evaluation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05840" y="53035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14:00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011680" y="530352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ends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55080" y="1783080"/>
            <a:ext cx="5166360" cy="4206240"/>
          </a:xfrm>
          <a:prstGeom prst="roundRect">
            <a:avLst>
              <a:gd name="adj" fmla="val 2174"/>
            </a:avLst>
          </a:prstGeom>
          <a:solidFill>
            <a:srgbClr val="313244"/>
          </a:solidFill>
          <a:ln w="19050">
            <a:solidFill>
              <a:srgbClr val="F38BA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29400" y="1920240"/>
            <a:ext cx="4617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day 05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629400" y="2240280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Polish + Ship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6720840" y="30175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10:00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726680" y="301752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notebook + stretch goals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720840" y="3474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11:30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726680" y="347472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showcase slides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72084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12:15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726680" y="393192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Lunch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720840" y="43891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12:45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726680" y="438912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Showcase: each of you presents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720840" y="4846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13:50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726680" y="484632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Awards + closing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720840" y="53035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14:00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726680" y="530352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FUTURE ends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27432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BUILD_THE_FUTURE.py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22960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04  //  03 / 13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365760"/>
            <a:ext cx="11612880" cy="365760"/>
          </a:xfrm>
          <a:prstGeom prst="rect">
            <a:avLst/>
          </a:prstGeom>
          <a:solidFill>
            <a:srgbClr val="181825"/>
          </a:solidFill>
          <a:ln w="6350">
            <a:solidFill>
              <a:srgbClr val="4547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484632"/>
            <a:ext cx="128016" cy="128016"/>
          </a:xfrm>
          <a:prstGeom prst="ellipse">
            <a:avLst/>
          </a:prstGeom>
          <a:solidFill>
            <a:srgbClr val="F38BA8"/>
          </a:solidFill>
          <a:ln w="12700">
            <a:solidFill>
              <a:srgbClr val="F38BA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484632"/>
            <a:ext cx="128016" cy="128016"/>
          </a:xfrm>
          <a:prstGeom prst="ellipse">
            <a:avLst/>
          </a:prstGeom>
          <a:solidFill>
            <a:srgbClr val="F9E2AF"/>
          </a:solidFill>
          <a:ln w="12700">
            <a:solidFill>
              <a:srgbClr val="F9E2A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484632"/>
            <a:ext cx="128016" cy="128016"/>
          </a:xfrm>
          <a:prstGeom prst="ellipse">
            <a:avLst/>
          </a:prstGeom>
          <a:solidFill>
            <a:srgbClr val="A6E3A1"/>
          </a:solidFill>
          <a:ln w="12700">
            <a:solidFill>
              <a:srgbClr val="A6E3A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11480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6AD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~/part_01.py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Part 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219456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100" kern="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challenge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640080" y="40233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tagline</a:t>
            </a:r>
            <a:pPr indent="0" marL="0">
              <a:buNone/>
            </a:pPr>
            <a:r>
              <a:rPr lang="en-US" sz="22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buNone/>
            </a:pPr>
            <a:r>
              <a:rPr lang="en-US" sz="22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"Real data. Real students. Real consequences if you get it wrong."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7432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BUILD_THE_FUTURE.py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04  //  04 / 13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the_problem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Your problem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2286000"/>
          </a:xfrm>
          <a:prstGeom prst="roundRect">
            <a:avLst>
              <a:gd name="adj" fmla="val 6000"/>
            </a:avLst>
          </a:prstGeom>
          <a:solidFill>
            <a:srgbClr val="313244"/>
          </a:solidFill>
          <a:ln w="25400">
            <a:solidFill>
              <a:srgbClr val="CBA6F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965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brief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331720"/>
            <a:ext cx="105156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 a model that predicts whether a student will pass their math final, given their background, habits, and family situation.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0080" y="4434840"/>
            <a:ext cx="3611880" cy="1965960"/>
          </a:xfrm>
          <a:prstGeom prst="roundRect">
            <a:avLst>
              <a:gd name="adj" fmla="val 4651"/>
            </a:avLst>
          </a:prstGeom>
          <a:solidFill>
            <a:srgbClr val="313244"/>
          </a:solidFill>
          <a:ln w="15240">
            <a:solidFill>
              <a:srgbClr val="FAB38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617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What's a pass?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68680" y="512064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Portuguese system says 10/20. Argue for stricter if you want. Justify your choice.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43400" y="4434840"/>
            <a:ext cx="3611880" cy="1965960"/>
          </a:xfrm>
          <a:prstGeom prst="roundRect">
            <a:avLst>
              <a:gd name="adj" fmla="val 4651"/>
            </a:avLst>
          </a:prstGeom>
          <a:solidFill>
            <a:srgbClr val="313244"/>
          </a:solidFill>
          <a:ln w="15240">
            <a:solidFill>
              <a:srgbClr val="89B4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4617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Which model?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72000" y="512064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You've met k-NN, Random Forest. You pick two and explain why.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46720" y="4434840"/>
            <a:ext cx="3611880" cy="1965960"/>
          </a:xfrm>
          <a:prstGeom prst="roundRect">
            <a:avLst>
              <a:gd name="adj" fmla="val 4651"/>
            </a:avLst>
          </a:prstGeom>
          <a:solidFill>
            <a:srgbClr val="313244"/>
          </a:solidFill>
          <a:ln w="15240">
            <a:solidFill>
              <a:srgbClr val="A6E3A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75320" y="4617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honest are you?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275320" y="512064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lies on imbalanced data. Show the confusion matrix and per-class F1.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7432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BUILD_THE_FUTURE.py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04  //  05 / 13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the_dataset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Meet the dataset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UCI Student Performance, Math. Portuguese secondary schools.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520440" cy="1143000"/>
          </a:xfrm>
          <a:prstGeom prst="roundRect">
            <a:avLst>
              <a:gd name="adj" fmla="val 8000"/>
            </a:avLst>
          </a:prstGeom>
          <a:solidFill>
            <a:srgbClr val="313244"/>
          </a:solidFill>
          <a:ln w="15240">
            <a:solidFill>
              <a:srgbClr val="FAB38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01168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395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27432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students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80560" y="1965960"/>
            <a:ext cx="3520440" cy="1143000"/>
          </a:xfrm>
          <a:prstGeom prst="roundRect">
            <a:avLst>
              <a:gd name="adj" fmla="val 8000"/>
            </a:avLst>
          </a:prstGeom>
          <a:solidFill>
            <a:srgbClr val="313244"/>
          </a:solidFill>
          <a:ln w="15240">
            <a:solidFill>
              <a:srgbClr val="89B4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80560" y="201168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480560" y="27432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per student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321040" y="1965960"/>
            <a:ext cx="3520440" cy="1143000"/>
          </a:xfrm>
          <a:prstGeom prst="roundRect">
            <a:avLst>
              <a:gd name="adj" fmla="val 8000"/>
            </a:avLst>
          </a:prstGeom>
          <a:solidFill>
            <a:srgbClr val="313244"/>
          </a:solidFill>
          <a:ln w="15240">
            <a:solidFill>
              <a:srgbClr val="A6E3A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0" y="201168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8321040" y="27432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G3 (final grade)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383280"/>
            <a:ext cx="10881360" cy="1938528"/>
          </a:xfrm>
          <a:prstGeom prst="roundRect">
            <a:avLst>
              <a:gd name="adj" fmla="val 3774"/>
            </a:avLst>
          </a:prstGeom>
          <a:solidFill>
            <a:srgbClr val="11111B"/>
          </a:solidFill>
          <a:ln w="10160">
            <a:solidFill>
              <a:srgbClr val="4547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52958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417320" y="352958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14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pandas </a:t>
            </a:r>
            <a:pPr indent="0" marL="0">
              <a:buNone/>
            </a:pPr>
            <a:r>
              <a:rPr lang="en-US" sz="140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</a:t>
            </a:r>
            <a:pPr indent="0" marL="0">
              <a:buNone/>
            </a:pPr>
            <a:r>
              <a:rPr lang="en-US" sz="14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17320" y="380390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17320" y="407822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 </a:t>
            </a:r>
            <a:pPr indent="0" marL="0">
              <a:buNone/>
            </a:pPr>
            <a:r>
              <a:rPr lang="en-US" sz="14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4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"https://raw.githubusercontent.com/jakemdrew/DataMiningNotes/"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435254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buNone/>
            </a:pPr>
            <a:r>
              <a:rPr lang="en-US" sz="14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"master/Data/student-mat.csv"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417320" y="462686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students </a:t>
            </a:r>
            <a:pPr indent="0" marL="0">
              <a:buNone/>
            </a:pPr>
            <a:r>
              <a:rPr lang="en-US" sz="14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4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pd</a:t>
            </a:r>
            <a:pPr indent="0" marL="0">
              <a:buNone/>
            </a:pPr>
            <a:r>
              <a:rPr lang="en-US" sz="14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read_csv</a:t>
            </a:r>
            <a:pPr indent="0" marL="0">
              <a:buNone/>
            </a:pPr>
            <a:r>
              <a:rPr lang="en-US" sz="14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(url, </a:t>
            </a:r>
            <a:pPr indent="0" marL="0">
              <a:buNone/>
            </a:pPr>
            <a:r>
              <a:rPr lang="en-US" sz="14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sep</a:t>
            </a:r>
            <a:pPr indent="0" marL="0">
              <a:buNone/>
            </a:pPr>
            <a:r>
              <a:rPr lang="en-US" sz="14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";"</a:t>
            </a:r>
            <a:pPr indent="0" marL="0">
              <a:buNone/>
            </a:pPr>
            <a:r>
              <a:rPr lang="en-US" sz="14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17320" y="4901184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students</a:t>
            </a:r>
            <a:pPr indent="0" marL="0">
              <a:buNone/>
            </a:pPr>
            <a:r>
              <a:rPr lang="en-US" sz="14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</a:t>
            </a:r>
            <a:pPr indent="0" marL="0">
              <a:buNone/>
            </a:pPr>
            <a:r>
              <a:rPr lang="en-US" sz="14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" y="6263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</a:t>
            </a:r>
            <a:pPr algn="ctr" indent="0" marL="0">
              <a:buNone/>
            </a:pPr>
            <a:r>
              <a:rPr lang="en-US" sz="1200" dirty="0">
                <a:solidFill>
                  <a:srgbClr val="A6AD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collected by Paulo Cortez (Univ of Minho). Real research data, peer-reviewed.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7432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BUILD_THE_FUTURE.py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04  //  06 / 13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the_features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What's in the data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33 features grouped four ways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5486400" cy="2011680"/>
          </a:xfrm>
          <a:prstGeom prst="roundRect">
            <a:avLst>
              <a:gd name="adj" fmla="val 4545"/>
            </a:avLst>
          </a:prstGeom>
          <a:solidFill>
            <a:srgbClr val="313244"/>
          </a:solidFill>
          <a:ln w="15240">
            <a:solidFill>
              <a:srgbClr val="A6E3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594360" cy="5943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21945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Who they are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777240" y="2880360"/>
            <a:ext cx="2331720" cy="384048"/>
          </a:xfrm>
          <a:prstGeom prst="roundRect">
            <a:avLst>
              <a:gd name="adj" fmla="val 14286"/>
            </a:avLst>
          </a:prstGeom>
          <a:solidFill>
            <a:srgbClr val="181825"/>
          </a:solidFill>
          <a:ln w="6350">
            <a:solidFill>
              <a:srgbClr val="45475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8680" y="288036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46120" y="2880360"/>
            <a:ext cx="2331720" cy="384048"/>
          </a:xfrm>
          <a:prstGeom prst="roundRect">
            <a:avLst>
              <a:gd name="adj" fmla="val 14286"/>
            </a:avLst>
          </a:prstGeom>
          <a:solidFill>
            <a:srgbClr val="181825"/>
          </a:solidFill>
          <a:ln w="6350">
            <a:solidFill>
              <a:srgbClr val="45475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337560" y="288036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sex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77240" y="3383280"/>
            <a:ext cx="2331720" cy="384048"/>
          </a:xfrm>
          <a:prstGeom prst="roundRect">
            <a:avLst>
              <a:gd name="adj" fmla="val 14286"/>
            </a:avLst>
          </a:prstGeom>
          <a:solidFill>
            <a:srgbClr val="181825"/>
          </a:solidFill>
          <a:ln w="6350">
            <a:solidFill>
              <a:srgbClr val="45475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68680" y="338328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school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246120" y="3383280"/>
            <a:ext cx="2331720" cy="384048"/>
          </a:xfrm>
          <a:prstGeom prst="roundRect">
            <a:avLst>
              <a:gd name="adj" fmla="val 14286"/>
            </a:avLst>
          </a:prstGeom>
          <a:solidFill>
            <a:srgbClr val="181825"/>
          </a:solidFill>
          <a:ln w="6350">
            <a:solidFill>
              <a:srgbClr val="45475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337560" y="338328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address (urban/rural)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172200" y="1965960"/>
            <a:ext cx="5486400" cy="2011680"/>
          </a:xfrm>
          <a:prstGeom prst="roundRect">
            <a:avLst>
              <a:gd name="adj" fmla="val 4545"/>
            </a:avLst>
          </a:prstGeom>
          <a:solidFill>
            <a:srgbClr val="313244"/>
          </a:solidFill>
          <a:ln w="15240">
            <a:solidFill>
              <a:srgbClr val="FAB387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240280"/>
            <a:ext cx="594360" cy="59436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178040" y="21945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Family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6446520" y="2880360"/>
            <a:ext cx="2331720" cy="384048"/>
          </a:xfrm>
          <a:prstGeom prst="roundRect">
            <a:avLst>
              <a:gd name="adj" fmla="val 14286"/>
            </a:avLst>
          </a:prstGeom>
          <a:solidFill>
            <a:srgbClr val="181825"/>
          </a:solidFill>
          <a:ln w="6350">
            <a:solidFill>
              <a:srgbClr val="45475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537960" y="288036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parents' jobs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8915400" y="2880360"/>
            <a:ext cx="2331720" cy="384048"/>
          </a:xfrm>
          <a:prstGeom prst="roundRect">
            <a:avLst>
              <a:gd name="adj" fmla="val 14286"/>
            </a:avLst>
          </a:prstGeom>
          <a:solidFill>
            <a:srgbClr val="181825"/>
          </a:solidFill>
          <a:ln w="6350">
            <a:solidFill>
              <a:srgbClr val="45475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9006840" y="288036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parental education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6446520" y="3383280"/>
            <a:ext cx="2331720" cy="384048"/>
          </a:xfrm>
          <a:prstGeom prst="roundRect">
            <a:avLst>
              <a:gd name="adj" fmla="val 14286"/>
            </a:avLst>
          </a:prstGeom>
          <a:solidFill>
            <a:srgbClr val="181825"/>
          </a:solidFill>
          <a:ln w="6350">
            <a:solidFill>
              <a:srgbClr val="45475A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537960" y="338328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family size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8915400" y="3383280"/>
            <a:ext cx="2331720" cy="384048"/>
          </a:xfrm>
          <a:prstGeom prst="roundRect">
            <a:avLst>
              <a:gd name="adj" fmla="val 14286"/>
            </a:avLst>
          </a:prstGeom>
          <a:solidFill>
            <a:srgbClr val="181825"/>
          </a:solidFill>
          <a:ln w="6350">
            <a:solidFill>
              <a:srgbClr val="45475A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9006840" y="338328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lives with both?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502920" y="4160520"/>
            <a:ext cx="5486400" cy="2011680"/>
          </a:xfrm>
          <a:prstGeom prst="roundRect">
            <a:avLst>
              <a:gd name="adj" fmla="val 4545"/>
            </a:avLst>
          </a:prstGeom>
          <a:solidFill>
            <a:srgbClr val="313244"/>
          </a:solidFill>
          <a:ln w="15240">
            <a:solidFill>
              <a:srgbClr val="89B4FA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434840"/>
            <a:ext cx="594360" cy="59436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1508760" y="4389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School + study</a:t>
            </a:r>
            <a:endParaRPr lang="en-US" sz="1900" dirty="0"/>
          </a:p>
        </p:txBody>
      </p:sp>
      <p:sp>
        <p:nvSpPr>
          <p:cNvPr id="30" name="Shape 25"/>
          <p:cNvSpPr/>
          <p:nvPr/>
        </p:nvSpPr>
        <p:spPr>
          <a:xfrm>
            <a:off x="777240" y="5074920"/>
            <a:ext cx="2331720" cy="384048"/>
          </a:xfrm>
          <a:prstGeom prst="roundRect">
            <a:avLst>
              <a:gd name="adj" fmla="val 14286"/>
            </a:avLst>
          </a:prstGeom>
          <a:solidFill>
            <a:srgbClr val="181825"/>
          </a:solidFill>
          <a:ln w="6350">
            <a:solidFill>
              <a:srgbClr val="45475A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868680" y="50749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study time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3246120" y="5074920"/>
            <a:ext cx="2331720" cy="384048"/>
          </a:xfrm>
          <a:prstGeom prst="roundRect">
            <a:avLst>
              <a:gd name="adj" fmla="val 14286"/>
            </a:avLst>
          </a:prstGeom>
          <a:solidFill>
            <a:srgbClr val="181825"/>
          </a:solidFill>
          <a:ln w="6350">
            <a:solidFill>
              <a:srgbClr val="45475A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3337560" y="50749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past failures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777240" y="5577840"/>
            <a:ext cx="2331720" cy="384048"/>
          </a:xfrm>
          <a:prstGeom prst="roundRect">
            <a:avLst>
              <a:gd name="adj" fmla="val 14286"/>
            </a:avLst>
          </a:prstGeom>
          <a:solidFill>
            <a:srgbClr val="181825"/>
          </a:solidFill>
          <a:ln w="6350">
            <a:solidFill>
              <a:srgbClr val="45475A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868680" y="5577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 support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3246120" y="5577840"/>
            <a:ext cx="2331720" cy="384048"/>
          </a:xfrm>
          <a:prstGeom prst="roundRect">
            <a:avLst>
              <a:gd name="adj" fmla="val 14286"/>
            </a:avLst>
          </a:prstGeom>
          <a:solidFill>
            <a:srgbClr val="181825"/>
          </a:solidFill>
          <a:ln w="6350">
            <a:solidFill>
              <a:srgbClr val="45475A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3337560" y="5577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internet at home</a:t>
            </a:r>
            <a:endParaRPr lang="en-US" sz="1100" dirty="0"/>
          </a:p>
        </p:txBody>
      </p:sp>
      <p:sp>
        <p:nvSpPr>
          <p:cNvPr id="38" name="Shape 33"/>
          <p:cNvSpPr/>
          <p:nvPr/>
        </p:nvSpPr>
        <p:spPr>
          <a:xfrm>
            <a:off x="6172200" y="4160520"/>
            <a:ext cx="5486400" cy="2011680"/>
          </a:xfrm>
          <a:prstGeom prst="roundRect">
            <a:avLst>
              <a:gd name="adj" fmla="val 4545"/>
            </a:avLst>
          </a:prstGeom>
          <a:solidFill>
            <a:srgbClr val="313244"/>
          </a:solidFill>
          <a:ln w="15240">
            <a:solidFill>
              <a:srgbClr val="CBA6F7"/>
            </a:solidFill>
            <a:prstDash val="solid"/>
          </a:ln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4434840"/>
            <a:ext cx="594360" cy="594360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7178040" y="4389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 outside</a:t>
            </a:r>
            <a:endParaRPr lang="en-US" sz="1900" dirty="0"/>
          </a:p>
        </p:txBody>
      </p:sp>
      <p:sp>
        <p:nvSpPr>
          <p:cNvPr id="41" name="Shape 35"/>
          <p:cNvSpPr/>
          <p:nvPr/>
        </p:nvSpPr>
        <p:spPr>
          <a:xfrm>
            <a:off x="6446520" y="5074920"/>
            <a:ext cx="2331720" cy="384048"/>
          </a:xfrm>
          <a:prstGeom prst="roundRect">
            <a:avLst>
              <a:gd name="adj" fmla="val 14286"/>
            </a:avLst>
          </a:prstGeom>
          <a:solidFill>
            <a:srgbClr val="181825"/>
          </a:solidFill>
          <a:ln w="6350">
            <a:solidFill>
              <a:srgbClr val="45475A"/>
            </a:solidFill>
            <a:prstDash val="solid"/>
          </a:ln>
        </p:spPr>
      </p:sp>
      <p:sp>
        <p:nvSpPr>
          <p:cNvPr id="42" name="Text 36"/>
          <p:cNvSpPr/>
          <p:nvPr/>
        </p:nvSpPr>
        <p:spPr>
          <a:xfrm>
            <a:off x="6537960" y="50749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going out frequency</a:t>
            </a:r>
            <a:endParaRPr lang="en-US" sz="1100" dirty="0"/>
          </a:p>
        </p:txBody>
      </p:sp>
      <p:sp>
        <p:nvSpPr>
          <p:cNvPr id="43" name="Shape 37"/>
          <p:cNvSpPr/>
          <p:nvPr/>
        </p:nvSpPr>
        <p:spPr>
          <a:xfrm>
            <a:off x="8915400" y="5074920"/>
            <a:ext cx="2331720" cy="384048"/>
          </a:xfrm>
          <a:prstGeom prst="roundRect">
            <a:avLst>
              <a:gd name="adj" fmla="val 14286"/>
            </a:avLst>
          </a:prstGeom>
          <a:solidFill>
            <a:srgbClr val="181825"/>
          </a:solidFill>
          <a:ln w="6350">
            <a:solidFill>
              <a:srgbClr val="45475A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9006840" y="50749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free time</a:t>
            </a:r>
            <a:endParaRPr lang="en-US" sz="1100" dirty="0"/>
          </a:p>
        </p:txBody>
      </p:sp>
      <p:sp>
        <p:nvSpPr>
          <p:cNvPr id="45" name="Shape 39"/>
          <p:cNvSpPr/>
          <p:nvPr/>
        </p:nvSpPr>
        <p:spPr>
          <a:xfrm>
            <a:off x="6446520" y="5577840"/>
            <a:ext cx="2331720" cy="384048"/>
          </a:xfrm>
          <a:prstGeom prst="roundRect">
            <a:avLst>
              <a:gd name="adj" fmla="val 14286"/>
            </a:avLst>
          </a:prstGeom>
          <a:solidFill>
            <a:srgbClr val="181825"/>
          </a:solidFill>
          <a:ln w="6350">
            <a:solidFill>
              <a:srgbClr val="45475A"/>
            </a:solidFill>
            <a:prstDash val="solid"/>
          </a:ln>
        </p:spPr>
      </p:sp>
      <p:sp>
        <p:nvSpPr>
          <p:cNvPr id="46" name="Text 40"/>
          <p:cNvSpPr/>
          <p:nvPr/>
        </p:nvSpPr>
        <p:spPr>
          <a:xfrm>
            <a:off x="6537960" y="5577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romantic relationship</a:t>
            </a:r>
            <a:endParaRPr lang="en-US" sz="1100" dirty="0"/>
          </a:p>
        </p:txBody>
      </p:sp>
      <p:sp>
        <p:nvSpPr>
          <p:cNvPr id="47" name="Shape 41"/>
          <p:cNvSpPr/>
          <p:nvPr/>
        </p:nvSpPr>
        <p:spPr>
          <a:xfrm>
            <a:off x="8915400" y="5577840"/>
            <a:ext cx="2331720" cy="384048"/>
          </a:xfrm>
          <a:prstGeom prst="roundRect">
            <a:avLst>
              <a:gd name="adj" fmla="val 14286"/>
            </a:avLst>
          </a:prstGeom>
          <a:solidFill>
            <a:srgbClr val="181825"/>
          </a:solidFill>
          <a:ln w="6350">
            <a:solidFill>
              <a:srgbClr val="45475A"/>
            </a:solidFill>
            <a:prstDash val="solid"/>
          </a:ln>
        </p:spPr>
      </p:sp>
      <p:sp>
        <p:nvSpPr>
          <p:cNvPr id="48" name="Text 42"/>
          <p:cNvSpPr/>
          <p:nvPr/>
        </p:nvSpPr>
        <p:spPr>
          <a:xfrm>
            <a:off x="9006840" y="5577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alcohol use</a:t>
            </a:r>
            <a:endParaRPr lang="en-US" sz="1100" dirty="0"/>
          </a:p>
        </p:txBody>
      </p:sp>
      <p:sp>
        <p:nvSpPr>
          <p:cNvPr id="49" name="Shape 43"/>
          <p:cNvSpPr/>
          <p:nvPr/>
        </p:nvSpPr>
        <p:spPr>
          <a:xfrm>
            <a:off x="640080" y="6126480"/>
            <a:ext cx="10881360" cy="457200"/>
          </a:xfrm>
          <a:prstGeom prst="roundRect">
            <a:avLst>
              <a:gd name="adj" fmla="val 12000"/>
            </a:avLst>
          </a:prstGeom>
          <a:solidFill>
            <a:srgbClr val="181825"/>
          </a:solidFill>
          <a:ln w="12700">
            <a:solidFill>
              <a:srgbClr val="CBA6F7"/>
            </a:solidFill>
            <a:prstDash val="solid"/>
          </a:ln>
        </p:spPr>
      </p:sp>
      <p:sp>
        <p:nvSpPr>
          <p:cNvPr id="50" name="Text 44"/>
          <p:cNvSpPr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 column = </a:t>
            </a:r>
            <a:pPr algn="ctr" indent="0" marL="0">
              <a:buNone/>
            </a:pPr>
            <a:r>
              <a:rPr lang="en-US" sz="13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G3 </a:t>
            </a:r>
            <a:pPr algn="ctr" indent="0" marL="0">
              <a:buNone/>
            </a:pPr>
            <a:r>
              <a:rPr lang="en-US" sz="13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(final grade, 0 to 20). </a:t>
            </a:r>
            <a:pPr algn="ctr" indent="0" marL="0">
              <a:buNone/>
            </a:pPr>
            <a:r>
              <a:rPr lang="en-US" sz="13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 = G3 ≥ 10. </a:t>
            </a:r>
            <a:pPr algn="ctr" indent="0" marL="0">
              <a:buNone/>
            </a:pPr>
            <a:r>
              <a:rPr lang="en-US" sz="1300" dirty="0">
                <a:solidFill>
                  <a:srgbClr val="A6AD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 pick your own threshold and defend it.</a:t>
            </a:r>
            <a:endParaRPr lang="en-US" sz="1300" dirty="0"/>
          </a:p>
        </p:txBody>
      </p:sp>
      <p:sp>
        <p:nvSpPr>
          <p:cNvPr id="51" name="Text 45"/>
          <p:cNvSpPr/>
          <p:nvPr/>
        </p:nvSpPr>
        <p:spPr>
          <a:xfrm>
            <a:off x="27432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BUILD_THE_FUTURE.py</a:t>
            </a:r>
            <a:endParaRPr lang="en-US" sz="900" dirty="0"/>
          </a:p>
        </p:txBody>
      </p:sp>
      <p:sp>
        <p:nvSpPr>
          <p:cNvPr id="52" name="Text 46"/>
          <p:cNvSpPr/>
          <p:nvPr/>
        </p:nvSpPr>
        <p:spPr>
          <a:xfrm>
            <a:off x="822960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04  //  07 / 13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365760"/>
            <a:ext cx="11612880" cy="365760"/>
          </a:xfrm>
          <a:prstGeom prst="rect">
            <a:avLst/>
          </a:prstGeom>
          <a:solidFill>
            <a:srgbClr val="181825"/>
          </a:solidFill>
          <a:ln w="6350">
            <a:solidFill>
              <a:srgbClr val="4547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484632"/>
            <a:ext cx="128016" cy="128016"/>
          </a:xfrm>
          <a:prstGeom prst="ellipse">
            <a:avLst/>
          </a:prstGeom>
          <a:solidFill>
            <a:srgbClr val="F38BA8"/>
          </a:solidFill>
          <a:ln w="12700">
            <a:solidFill>
              <a:srgbClr val="F38BA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484632"/>
            <a:ext cx="128016" cy="128016"/>
          </a:xfrm>
          <a:prstGeom prst="ellipse">
            <a:avLst/>
          </a:prstGeom>
          <a:solidFill>
            <a:srgbClr val="F9E2AF"/>
          </a:solidFill>
          <a:ln w="12700">
            <a:solidFill>
              <a:srgbClr val="F9E2A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484632"/>
            <a:ext cx="128016" cy="128016"/>
          </a:xfrm>
          <a:prstGeom prst="ellipse">
            <a:avLst/>
          </a:prstGeom>
          <a:solidFill>
            <a:srgbClr val="A6E3A1"/>
          </a:solidFill>
          <a:ln w="12700">
            <a:solidFill>
              <a:srgbClr val="A6E3A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11480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6AD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~/part_02.py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Part 02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219456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100" kern="0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you ship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640080" y="40233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tagline</a:t>
            </a:r>
            <a:pPr indent="0" marL="0">
              <a:buNone/>
            </a:pPr>
            <a:r>
              <a:rPr lang="en-US" sz="22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buNone/>
            </a:pPr>
            <a:r>
              <a:rPr lang="en-US" sz="22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"Six things every notebook must do by 14:00 tomorrow"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7432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BUILD_THE_FUTURE.py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04  //  08 / 13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deliverables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Six things you must deliver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5486400" cy="1463040"/>
          </a:xfrm>
          <a:prstGeom prst="roundRect">
            <a:avLst>
              <a:gd name="adj" fmla="val 6250"/>
            </a:avLst>
          </a:prstGeom>
          <a:solidFill>
            <a:srgbClr val="313244"/>
          </a:solidFill>
          <a:ln w="15240">
            <a:solidFill>
              <a:srgbClr val="89B4F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2880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3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8760" y="1984248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103120" y="18288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working Colab notebook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2103120" y="2240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end-to-end without errors. Load → clean → split → train → evaluate.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72200" y="1691640"/>
            <a:ext cx="5486400" cy="1463040"/>
          </a:xfrm>
          <a:prstGeom prst="roundRect">
            <a:avLst>
              <a:gd name="adj" fmla="val 6250"/>
            </a:avLst>
          </a:prstGeom>
          <a:solidFill>
            <a:srgbClr val="313244"/>
          </a:solidFill>
          <a:ln w="15240">
            <a:solidFill>
              <a:srgbClr val="A6E3A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09360" y="182880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3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984248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772400" y="18288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Two trained models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7772400" y="2240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your own. Justify the picks. No "because that's what we did in class" answers.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02920" y="3337560"/>
            <a:ext cx="5486400" cy="1463040"/>
          </a:xfrm>
          <a:prstGeom prst="roundRect">
            <a:avLst>
              <a:gd name="adj" fmla="val 6250"/>
            </a:avLst>
          </a:prstGeom>
          <a:solidFill>
            <a:srgbClr val="313244"/>
          </a:solidFill>
          <a:ln w="15240">
            <a:solidFill>
              <a:srgbClr val="FAB38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0080" y="347472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30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8760" y="3630168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2103120" y="34747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Honest evaluation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2103120" y="388620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 and per-class F1. Accuracy alone won't pass review.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172200" y="3337560"/>
            <a:ext cx="5486400" cy="1463040"/>
          </a:xfrm>
          <a:prstGeom prst="roundRect">
            <a:avLst>
              <a:gd name="adj" fmla="val 6250"/>
            </a:avLst>
          </a:prstGeom>
          <a:solidFill>
            <a:srgbClr val="313244"/>
          </a:solidFill>
          <a:ln w="15240">
            <a:solidFill>
              <a:srgbClr val="CBA6F7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6309360" y="347472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30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8040" y="3630168"/>
            <a:ext cx="457200" cy="4572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772400" y="34747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prediction tool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7772400" y="388620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function that takes a student profile and predicts pass/fail. Demo it live tomorrow.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502920" y="4983480"/>
            <a:ext cx="5486400" cy="1463040"/>
          </a:xfrm>
          <a:prstGeom prst="roundRect">
            <a:avLst>
              <a:gd name="adj" fmla="val 6250"/>
            </a:avLst>
          </a:prstGeom>
          <a:solidFill>
            <a:srgbClr val="313244"/>
          </a:solidFill>
          <a:ln w="15240">
            <a:solidFill>
              <a:srgbClr val="F9E2AF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640080" y="512064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3000" dirty="0"/>
          </a:p>
        </p:txBody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08760" y="5276088"/>
            <a:ext cx="457200" cy="45720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2103120" y="51206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3 to 5 slide showcase</a:t>
            </a:r>
            <a:endParaRPr lang="en-US" sz="1600" dirty="0"/>
          </a:p>
        </p:txBody>
      </p:sp>
      <p:sp>
        <p:nvSpPr>
          <p:cNvPr id="28" name="Text 21"/>
          <p:cNvSpPr/>
          <p:nvPr/>
        </p:nvSpPr>
        <p:spPr>
          <a:xfrm>
            <a:off x="2103120" y="55321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Problem, model, numbers, one surprise from the data, one limitation.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6172200" y="4983480"/>
            <a:ext cx="5486400" cy="1463040"/>
          </a:xfrm>
          <a:prstGeom prst="roundRect">
            <a:avLst>
              <a:gd name="adj" fmla="val 6250"/>
            </a:avLst>
          </a:prstGeom>
          <a:solidFill>
            <a:srgbClr val="313244"/>
          </a:solidFill>
          <a:ln w="15240">
            <a:solidFill>
              <a:srgbClr val="F38BA8"/>
            </a:solidFill>
            <a:prstDash val="solid"/>
          </a:ln>
        </p:spPr>
      </p:sp>
      <p:sp>
        <p:nvSpPr>
          <p:cNvPr id="30" name="Text 23"/>
          <p:cNvSpPr/>
          <p:nvPr/>
        </p:nvSpPr>
        <p:spPr>
          <a:xfrm>
            <a:off x="6309360" y="512064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3000" dirty="0"/>
          </a:p>
        </p:txBody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040" y="5276088"/>
            <a:ext cx="457200" cy="45720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772400" y="51206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written reflection</a:t>
            </a:r>
            <a:endParaRPr lang="en-US" sz="1600" dirty="0"/>
          </a:p>
        </p:txBody>
      </p:sp>
      <p:sp>
        <p:nvSpPr>
          <p:cNvPr id="33" name="Text 25"/>
          <p:cNvSpPr/>
          <p:nvPr/>
        </p:nvSpPr>
        <p:spPr>
          <a:xfrm>
            <a:off x="7772400" y="55321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paragraph. What your model can and can't fairly judge about a real person.</a:t>
            </a:r>
            <a:endParaRPr lang="en-US" sz="1200" dirty="0"/>
          </a:p>
        </p:txBody>
      </p:sp>
      <p:sp>
        <p:nvSpPr>
          <p:cNvPr id="34" name="Text 26"/>
          <p:cNvSpPr/>
          <p:nvPr/>
        </p:nvSpPr>
        <p:spPr>
          <a:xfrm>
            <a:off x="27432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BUILD_THE_FUTURE.py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822960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04  //  09 / 13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stretch_goals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Done early? Try these.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bonus challenges. each one earns serious respect.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5486400" cy="1965960"/>
          </a:xfrm>
          <a:prstGeom prst="roundRect">
            <a:avLst>
              <a:gd name="adj" fmla="val 4651"/>
            </a:avLst>
          </a:prstGeom>
          <a:solidFill>
            <a:srgbClr val="313244"/>
          </a:solidFill>
          <a:ln w="15240">
            <a:solidFill>
              <a:srgbClr val="A6E3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240280"/>
            <a:ext cx="594360" cy="5943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2194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Predict the grade itself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463040" y="2697480"/>
            <a:ext cx="4389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it into a regression problem. Predict G3 as a number, not pass/fail. Use MAE, RMSE, R² to evaluate.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72200" y="1965960"/>
            <a:ext cx="5486400" cy="1965960"/>
          </a:xfrm>
          <a:prstGeom prst="roundRect">
            <a:avLst>
              <a:gd name="adj" fmla="val 4651"/>
            </a:avLst>
          </a:prstGeom>
          <a:solidFill>
            <a:srgbClr val="313244"/>
          </a:solidFill>
          <a:ln w="15240">
            <a:solidFill>
              <a:srgbClr val="89B4FA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40280"/>
            <a:ext cx="594360" cy="5943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32320" y="2194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Cluster the students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7132320" y="2697480"/>
            <a:ext cx="4389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K-means on the features. What natural groups appear? Are they more meaningful than "pass" and "fail"?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02920" y="4114800"/>
            <a:ext cx="5486400" cy="1965960"/>
          </a:xfrm>
          <a:prstGeom prst="roundRect">
            <a:avLst>
              <a:gd name="adj" fmla="val 4651"/>
            </a:avLst>
          </a:prstGeom>
          <a:solidFill>
            <a:srgbClr val="313244"/>
          </a:solidFill>
          <a:ln w="15240">
            <a:solidFill>
              <a:srgbClr val="FAB387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389120"/>
            <a:ext cx="594360" cy="5943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463040" y="43434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Which features matter most?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1463040" y="4846320"/>
            <a:ext cx="4389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gives you feature_importances_. Plot them. Are study time and past failures the top drivers? Or something else?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172200" y="4114800"/>
            <a:ext cx="5486400" cy="1965960"/>
          </a:xfrm>
          <a:prstGeom prst="roundRect">
            <a:avLst>
              <a:gd name="adj" fmla="val 4651"/>
            </a:avLst>
          </a:prstGeom>
          <a:solidFill>
            <a:srgbClr val="313244"/>
          </a:solidFill>
          <a:ln w="15240">
            <a:solidFill>
              <a:srgbClr val="F38BA8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4389120"/>
            <a:ext cx="594360" cy="59436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132320" y="43434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Break your own model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7132320" y="4846320"/>
            <a:ext cx="4389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student profile your model gets wildly wrong. Explain why. This shows you understand its limits.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27432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BUILD_THE_FUTURE.py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822960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04  //  10 / 13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rules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to work today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166360" cy="4206240"/>
          </a:xfrm>
          <a:prstGeom prst="roundRect">
            <a:avLst>
              <a:gd name="adj" fmla="val 2174"/>
            </a:avLst>
          </a:prstGeom>
          <a:solidFill>
            <a:srgbClr val="313244"/>
          </a:solidFill>
          <a:ln w="19050">
            <a:solidFill>
              <a:srgbClr val="FAB38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2024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192024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Asking for help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914400" y="2697480"/>
            <a:ext cx="4617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mentors will: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05840" y="3017520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6E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you read an error message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05840" y="3337560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6E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you at the right doc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005840" y="3657600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6E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Sanity-check your metric choice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914400" y="4114800"/>
            <a:ext cx="4617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mentors won't: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005840" y="4434840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3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</a:t>
            </a:r>
            <a:pPr indent="0" marL="0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you "what to do next"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005840" y="4754880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3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</a:t>
            </a:r>
            <a:pPr indent="0" marL="0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your model for you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005840" y="5074920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3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</a:t>
            </a:r>
            <a:pPr indent="0" marL="0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code on your machine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355080" y="1783080"/>
            <a:ext cx="5166360" cy="4206240"/>
          </a:xfrm>
          <a:prstGeom prst="roundRect">
            <a:avLst>
              <a:gd name="adj" fmla="val 2174"/>
            </a:avLst>
          </a:prstGeom>
          <a:solidFill>
            <a:srgbClr val="313244"/>
          </a:solidFill>
          <a:ln w="19050">
            <a:solidFill>
              <a:srgbClr val="CBA6F7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920240"/>
            <a:ext cx="640080" cy="6400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7406640" y="192024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tools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6629400" y="2697480"/>
            <a:ext cx="4617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allowed and encouraged: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6720840" y="3017520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6E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Claude, ChatGPT, Gemini for ideas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6720840" y="3337560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6E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Overflow, official docs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6720840" y="3657600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6E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up an unfamiliar function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6629400" y="4114800"/>
            <a:ext cx="4617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not allowed: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6720840" y="4434840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3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</a:t>
            </a:r>
            <a:pPr indent="0" marL="0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Pasting the brief and saying "do it all"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6720840" y="4754880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3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</a:t>
            </a:r>
            <a:pPr indent="0" marL="0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Copying another student's code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6720840" y="5074920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3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</a:t>
            </a:r>
            <a:pPr indent="0" marL="0">
              <a:buNone/>
            </a:pPr>
            <a:r>
              <a:rPr lang="en-US" sz="13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Submitting work you can't explain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640080" y="6126480"/>
            <a:ext cx="10881360" cy="457200"/>
          </a:xfrm>
          <a:prstGeom prst="roundRect">
            <a:avLst>
              <a:gd name="adj" fmla="val 12000"/>
            </a:avLst>
          </a:prstGeom>
          <a:solidFill>
            <a:srgbClr val="181825"/>
          </a:solidFill>
          <a:ln w="12700">
            <a:solidFill>
              <a:srgbClr val="F9E2A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 of thumb: </a:t>
            </a:r>
            <a:pPr algn="ctr" indent="0" marL="0">
              <a:buNone/>
            </a:pPr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you can't explain what your code does in your own words tomorrow, it's not your code.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27432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BUILD_THE_FUTURE.py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822960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04  //  11 / 13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todays_clock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Today's clock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313244"/>
          </a:solidFill>
          <a:ln w="15240">
            <a:solidFill>
              <a:srgbClr val="CBA6F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916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10:00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2194560" y="173736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Briefing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194560" y="2011680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slides. Stop me if anything's unclear, now is the time.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33172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313244"/>
          </a:solidFill>
          <a:ln w="15240">
            <a:solidFill>
              <a:srgbClr val="89B4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3317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10:30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2194560" y="237744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Explore the dataset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2194560" y="2651760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it, look at it, decide your pass threshold, draft your plan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97180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313244"/>
          </a:solidFill>
          <a:ln w="15240">
            <a:solidFill>
              <a:srgbClr val="A6E3A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11:30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194560" y="3017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 model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194560" y="3291840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one, train it, get accuracy + confusion matrix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61188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313244"/>
          </a:solidFill>
          <a:ln w="15240">
            <a:solidFill>
              <a:srgbClr val="6C708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6118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12:30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2194560" y="36576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Lunch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2194560" y="3931920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away. Your brain needs it.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425196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313244"/>
          </a:solidFill>
          <a:ln w="15240">
            <a:solidFill>
              <a:srgbClr val="FAB38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2519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13:00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2194560" y="429768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Second model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2194560" y="4572000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different approach. Compare results honestly.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489204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313244"/>
          </a:solidFill>
          <a:ln w="15240">
            <a:solidFill>
              <a:srgbClr val="F9E2A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8920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13:30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2194560" y="493776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Prediction tool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2194560" y="5212080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your best model in a function. Test it on yourself.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" y="553212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313244"/>
          </a:solidFill>
          <a:ln w="15240">
            <a:solidFill>
              <a:srgbClr val="F38BA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5321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14:00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2194560" y="557784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4 ends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2194560" y="5852160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your notebook. Sleep on your results.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BUILD_THE_FUTURE.py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22960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04  //  12 / 13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365760"/>
            <a:ext cx="11612880" cy="365760"/>
          </a:xfrm>
          <a:prstGeom prst="rect">
            <a:avLst/>
          </a:prstGeom>
          <a:solidFill>
            <a:srgbClr val="181825"/>
          </a:solidFill>
          <a:ln w="6350">
            <a:solidFill>
              <a:srgbClr val="4547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484632"/>
            <a:ext cx="128016" cy="128016"/>
          </a:xfrm>
          <a:prstGeom prst="ellipse">
            <a:avLst/>
          </a:prstGeom>
          <a:solidFill>
            <a:srgbClr val="F38BA8"/>
          </a:solidFill>
          <a:ln w="12700">
            <a:solidFill>
              <a:srgbClr val="F38BA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484632"/>
            <a:ext cx="128016" cy="128016"/>
          </a:xfrm>
          <a:prstGeom prst="ellipse">
            <a:avLst/>
          </a:prstGeom>
          <a:solidFill>
            <a:srgbClr val="F9E2AF"/>
          </a:solidFill>
          <a:ln w="12700">
            <a:solidFill>
              <a:srgbClr val="F9E2A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484632"/>
            <a:ext cx="128016" cy="128016"/>
          </a:xfrm>
          <a:prstGeom prst="ellipse">
            <a:avLst/>
          </a:prstGeom>
          <a:solidFill>
            <a:srgbClr val="A6E3A1"/>
          </a:solidFill>
          <a:ln w="12700">
            <a:solidFill>
              <a:srgbClr val="A6E3A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11480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6AD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~/now_go_build.py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three days of help. now you're on your own.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today, you find out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237744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CBA6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you can build.</a:t>
            </a:r>
            <a:endParaRPr lang="en-US" sz="6400" dirty="0"/>
          </a:p>
        </p:txBody>
      </p:sp>
      <p:sp>
        <p:nvSpPr>
          <p:cNvPr id="10" name="Text 8"/>
          <p:cNvSpPr/>
          <p:nvPr/>
        </p:nvSpPr>
        <p:spPr>
          <a:xfrm>
            <a:off x="640080" y="4206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</a:t>
            </a:r>
            <a:pPr indent="0" marL="0">
              <a:buNone/>
            </a:pPr>
            <a:r>
              <a:rPr lang="en-US" sz="2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time_remaining</a:t>
            </a:r>
            <a:pPr indent="0" marL="0">
              <a:buNone/>
            </a:pPr>
            <a:r>
              <a:rPr lang="en-US" sz="2200" dirty="0">
                <a:solidFill>
                  <a:srgbClr val="F38B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&gt; </a:t>
            </a:r>
            <a:pPr indent="0" marL="0">
              <a:buNone/>
            </a:pPr>
            <a:r>
              <a:rPr lang="en-US" sz="2200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2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40080" y="47091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build</a:t>
            </a:r>
            <a:pPr indent="0" marL="0">
              <a:buNone/>
            </a:pPr>
            <a:r>
              <a:rPr lang="en-US" sz="22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FAB3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something_real</a:t>
            </a:r>
            <a:pPr indent="0" marL="0">
              <a:buNone/>
            </a:pPr>
            <a:r>
              <a:rPr lang="en-US" sz="22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40080" y="59436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room is yours.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7432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BUILD_THE_FUTURE.py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6537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04  //  13 / 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 THE FUTURE - Day 4</dc:title>
  <dc:subject>PptxGenJS Presentation</dc:subject>
  <dc:creator>Oluwaseun, Startup Grind Aberdeen x CREED</dc:creator>
  <cp:lastModifiedBy>Oluwaseun, Startup Grind Aberdeen x CREED</cp:lastModifiedBy>
  <cp:revision>1</cp:revision>
  <dcterms:created xsi:type="dcterms:W3CDTF">2026-06-11T20:51:35Z</dcterms:created>
  <dcterms:modified xsi:type="dcterms:W3CDTF">2026-06-11T20:51:35Z</dcterms:modified>
</cp:coreProperties>
</file>