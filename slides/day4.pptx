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05840"/>
            <a:ext cx="9628632" cy="4846320"/>
          </a:xfrm>
          <a:prstGeom prst="roundRect">
            <a:avLst>
              <a:gd name="adj" fmla="val 1698"/>
            </a:avLst>
          </a:prstGeom>
          <a:solidFill>
            <a:srgbClr val="181825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005840"/>
            <a:ext cx="9628632" cy="457200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4" name="Shape 2"/>
          <p:cNvSpPr/>
          <p:nvPr/>
        </p:nvSpPr>
        <p:spPr>
          <a:xfrm>
            <a:off x="1481328" y="1170432"/>
            <a:ext cx="128016" cy="128016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5" name="Shape 3"/>
          <p:cNvSpPr/>
          <p:nvPr/>
        </p:nvSpPr>
        <p:spPr>
          <a:xfrm>
            <a:off x="1719072" y="1170432"/>
            <a:ext cx="128016" cy="128016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6" name="Shape 4"/>
          <p:cNvSpPr/>
          <p:nvPr/>
        </p:nvSpPr>
        <p:spPr>
          <a:xfrm>
            <a:off x="1956816" y="1170432"/>
            <a:ext cx="128016" cy="128016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0058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day4_startup_challenge.ipynb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run_bootcamp.py --day 4 --mode 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4: The Startup Challenge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"real data, real findings, pitched to judges tomorrow"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50749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 Bootcamp for Teens | 16 July 2026 | The Centre, Aberdeen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days 1 to 3 were the training set. you are the model.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 you walk the whole path yourselves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gave you the map: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ML is, and how to work with Claude to write code.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gave you the tools: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Decision Trees, K-Means, train/test splits, accuracy, confusion matrices, silhouette scores.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showed you a finished product: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TrendCaster. Real data, honest metrics, model comparison, a live app. That is your template.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your team gets a REAL problem with REAL data.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13:30 you will have a trained model, a second method, honest numbers, and a working app. Tomorrow you pitch your findings to a named real-world customer, in front of judges.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48640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181825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4864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nobody is coming to build it for you. </a:t>
            </a:r>
            <a:pPr indent="0" marL="0">
              <a:buNone/>
            </a:pPr>
            <a:r>
              <a:rPr lang="en-US" sz="15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guide, Claude assists, but the decisions and the understanding must be yours.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checkpoints, not vibes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today runs: four hours, four checkpoints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+ the draw   </a:t>
            </a:r>
            <a:pPr indent="0" marL="0">
              <a:buNone/>
            </a:pPr>
            <a:r>
              <a:rPr lang="en-US" sz="13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deck, then each team draws its problem. Starter notebook link on your team brief.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77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77440" y="2377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1: data loaded   </a:t>
            </a:r>
            <a:pPr indent="0" marL="0">
              <a:buNone/>
            </a:pPr>
            <a:r>
              <a:rPr lang="en-US" sz="13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open in Colab, explored, cleaned. You can say what each column means.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37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377440" y="3337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2: models trained   </a:t>
            </a:r>
            <a:pPr indent="0" marL="0">
              <a:buNone/>
            </a:pPr>
            <a:r>
              <a:rPr lang="en-US" sz="13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K-Means run, with accuracy, confusion matrix and silhouette on screen.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97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37744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3: app running   </a:t>
            </a:r>
            <a:pPr indent="0" marL="0">
              <a:buNone/>
            </a:pPr>
            <a:r>
              <a:rPr lang="en-US" sz="13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live with a shareable link. Someone outside your team can use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25780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57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13:30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377440" y="5257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 DOWN, then pitch prep   </a:t>
            </a:r>
            <a:pPr indent="0" marL="0">
              <a:buNone/>
            </a:pPr>
            <a:r>
              <a:rPr lang="en-US" sz="13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freeze. Last 30 minutes: pitch skeleton, speaking roles, rehearse the demo once.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Behind a checkpoint? Wave a mentor over immediately. That is what we are for.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to solve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First-principles thinking: the five moves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thinking is copying: </a:t>
            </a:r>
            <a:pPr indent="0" marL="0">
              <a:buNone/>
            </a:pPr>
            <a:r>
              <a:rPr lang="en-US" sz="145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 by remembering how similar ones were solved. First principles is for when copying fails: strip the problem to what you KNOW is true, and rebuild from only that.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91640" y="2011680"/>
            <a:ext cx="937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actual goal 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task you were handed, the outcome behind it. What would have to be true for this to be solved?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862072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86207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2862072"/>
            <a:ext cx="937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you know for certain 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brutal about the word certain: facts about the data, facts about the world, arithmetic.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712464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1246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91640" y="3712464"/>
            <a:ext cx="937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smuggled assumptions 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everything else in your head: do I KNOW this, or did I inherit it? This move IS first-principles thinking.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562856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56285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4562856"/>
            <a:ext cx="937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from the floor 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what you know for certain, what is the simplest thing that achieves the actual goal?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5413248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4132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91640" y="5413248"/>
            <a:ext cx="937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now, compare with the copied answer 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usual way survives the audit. Now you know WHY it is right instead of just following it.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62910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principles is expensive: deploy it where stakes are high or the copied answer smells wrong. Copy happily everywhere else.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five moves, run on problem_07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example: HelpMap Aberdeen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181825"/>
          </a:solidFill>
          <a:ln w="9525">
            <a:solidFill>
              <a:srgbClr val="6C70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copied answer: </a:t>
            </a:r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most accurate deprivation predictor and publish a league table of Scotland's worst neighbourhoods.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3337560" cy="379476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A6E3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23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 FOR CERTAIN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2852928"/>
            <a:ext cx="2880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limited.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domains measure different struggles: income, health, transport access, crime.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are relative: a rank can worsen while life improves.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rows are real neighbours.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240280"/>
            <a:ext cx="3337560" cy="379476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423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SMUGGLED ASSUMPTIONS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2852928"/>
            <a:ext cx="2880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'Most deprived needs most of everything.' False: an access-poor rural zone and an income-poor city zone need DIFFERENT help.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'One league table serves everyone.' False: it names losers without naming actions.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'Prediction accuracy is the product.' False: the action 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337560" cy="379476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CBA6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423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REBUILT FROM THE FLOOR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75320" y="2852928"/>
            <a:ext cx="2880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restated: help lands where it changes the most.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cluster neighbourhoods into TYPES of need, and attach one concrete recommendation per type.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exactly your problem card. The card was built by running these five moves; now you can run them on anything.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199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you write a line of code today: run move 3 on your own problem card. Every trap on every card is a smuggled assumption.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random.choice(problems)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draw: seven problems, five teams, no swaps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298448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A6E3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29844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29844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ClimateLens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51960" y="129844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climate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12984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should climate campaigners pressure, and is that fair?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1993392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94E2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9933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19933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PlasticTrace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51960" y="199339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99339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branded plastic is on which beaches? Real volunteer audit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688336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8833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26883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SugarSense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51960" y="268833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268833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type-2 diabetes risk from routine measurements, before symptoms.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383280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38328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338328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StaySmart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251960" y="33832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business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0" y="338328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hotel bookings will cancel. 119,390 real bookings.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FAB3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0782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407822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EruptionWatch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251960" y="40782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earth science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407822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volcanoes threaten the most people and deserve monitoring first?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4773168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89DC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77316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00200" y="47731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PlanetHunter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251960" y="477316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477316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astronomers rank which Kepler signals are real planets.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" y="5468112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 w="9525">
            <a:solidFill>
              <a:srgbClr val="CBA6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546811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00200" y="546811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HelpMap Aberdeen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251960" y="54681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community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52160" y="546811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neighbourhoods need which help? Your postcode is in the data.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2960" y="6199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Seven in the hat, five drawn: two problems stay in the box, like real markets. No swaps.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problem_01 // climate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ClimateLens: who should the pressure land 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campaigns must choose targets. Total emissions point at China and the USA; per-person emissions point somewhere else entirely. ClimateLens shows campaigners both truths at once.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World in Data CO2 dataset: every country, 1750 to now, updated continuously. You slice one recent year. This is the same data journalists cite.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country above or below the world median for per-person CO2? You create the label yourselves, then train the tree on GDP, population and energy columns.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countries into emission profiles: high-total/low-per-person, high-per-person/low-total, and the rest. Name each cluster like a campaigner would.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label is a choice, not a fact: defend the median split. And the clusters ARE the product: what should campaigners do differently for each one?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countries hide in the data: rows like World and Asia have a blank iso_code and will wreck your clusters. Filter them out, and tell the judges you did.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problem_02 //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PlasticTrace: name the companies on the beach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volunteers worldwide pick up beach plastic and record the brand on every piece. PlasticTrace turns their counts into targets: which companies dominate which countries' waste?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Free From Plastic brand audits, 13,380 rows across dozens of countries: counts per company per plastic type (pet, hdpe, ldpe...). Real activist-collected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company's waste count in a country high or low (above/below median grand_total)? Create the label, predict it from the plastic-type mix.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by country, then K-Means countries by their plastic-type profile. Which clusters share a problem, and which parent companies dominate each?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94E2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story: your clusters and top-company tables are exactly what this movement publishes each year to pressure corporations. Make yours defensible.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data everywhere: 'Grand Total' and 'Unbranded' pose as companies, and volunteers count differently per country, so raw counts compare badly. Normalise or be humble.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problem_03 // health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SugarSense: catch diabetes before symptoms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diabetes develops silently for years, and the NHS runs a national programme hunting for people at risk. SugarSense flags risk from measurements a nurse already takes.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Pima diabetes study: 767 real patients, 8 numeric measurements (glucose, blood pressure, BMI, age...). All numbers, no word columns.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patient have diabetes? The label is included. Decision Tree, then try a second classifier and compare, like TrendCaster.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patients into risk profiles. What does the highest-risk cluster look like? That is who a screening programme invites first.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a missed diabetic misses years of early treatment; a false alarm costs one blood test. Decide which mistake your product prefers, and say so.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that are lies: nobody has zero blood pressure or zero BMI, those are missing values in disguise. Find them, handle them, explain them. Also: 1980s data from one community, be honest about whether it travels to Aberdeen.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problem_04 // business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StaySmart: predict the no-shows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cancelled booking is an empty room a hotel could have sold. StaySmart predicts cancellations so hotels can overbook wisely, the same maths airlines run every day.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real bookings extracted from two actual Portuguese hotels' systems: lead time, deposit, guest history, room type, season. The biggest dataset in the room.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booking cancel? Target is is_canceled. Word columns need pd.get_dummies. Watch your runtime: sample the data if the full set feels slow.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guests into booking types: last-minute city visitors, long-lead resort families... Which segment cancels most?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as money: overbook too boldly and you walk a guest to a rival at your cost; too timidly and rooms sit empty. Put pounds on both mistakes.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is a cheat: reservation_status literally says Canceled. Using it is the TrendCaster leakage crime. Find it, drop it, and tell the judges why.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problem_05 // earth science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EruptionWatch: monitor the right volcanoes first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dangerous volcanoes than monitoring budgets. EruptionWatch ranks where instruments should go first: dangerous types, recent activity, and people nearby.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Smithsonian's Global Volcanism Program catalogue: 958 volcanoes with type, elevation, rock type, last eruption year, and population living within 5, 10, 30 and 100 km.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active or long dormant? Create the label from last_eruption_year &gt;= 1900 (the column hides 'Unknown' strings, coerce them).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volcanoes by type and population exposure. Which cluster has big populations and little recent attention? That is your headline.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AB3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population_within columns turn clusters into a priority list. Your best slide is one sentence: 'these N volcanoes threaten M people.'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is not future: recent activity is a proxy for risk, not a guarantee, and dormant volcanoes still erupt. Say what your model can NOT see, out loud.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problem_06 // 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PlanetHunter: rank the real planets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Kepler telescope logged thousands of possible planets, but follow-up telescope time is scarce and expensive. PlanetHunter ranks which candidate signals deserve a night on a real telescope.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NASA's Exoplanet Archive, loaded straight from NASA's own server: thousands of Kepler signals with orbital period, transit depth, planet radius, temperature, signal-to-noise.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planet or FALSE POSITIVE? Train only on rows where astronomers already ruled; the disposition column is your label.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the confirmed planets by radius, temperature and period: hot Jupiters, mini-Neptunes, Earth-likes. You are literally mapping planet types.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89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every false positive you promote wastes a telescope night worth thousands. How many of YOUR 'planets' would have been worth the night?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rows have no answer yet: they must stay out of training, but they are exactly what your product would score. Show your model's verdict on a few, and label it as prediction, not fact.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problem_07 // community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HelpMap Aberdeen: aim help where it is needed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problem_07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pitch: </a:t>
            </a:r>
            <a:pPr indent="0" marL="0">
              <a:buNone/>
            </a:pPr>
            <a:r>
              <a:rPr lang="en-US" sz="16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Charities and councils have limited money and thousands of neighbourhoods. HelpMap uses Scotland's official deprivation data to show which neighbourhoods need which KIND of help, including streets in this city.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Scottish Index of Multiple Deprivation: every one of Scotland's 6,976 small neighbourhoods, scored on income, employment, health, education, access, crime and housing.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(supervised)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neighbourhood in the worst health band? Create the label from the health domain, predict it from the OTHER domains: which struggles travel together?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(unsupervised)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neighbourhoods into types: different clusters need different help (money advice vs transport vs health outreach). Then find Aberdeen's zones, and your 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CBA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 that matters: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Actionability: a cluster is only useful if you can say what a charity should DO for it. One recommendation per cluster is the product.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trap: 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is your neighbours: 'deprived' is not 'broken', and language on stage matters. Also, these are ranks, not absolute scores; a rank can worsen even when life improves.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 deliverables():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your team must hand in by 13:30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716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9372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that runs top to bottom. Both methods: Decision Tree + K-Means. Every cell explainable by someone on your team.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0428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304288"/>
            <a:ext cx="9372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numbers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confusion matrix for the tree. Silhouette score for the clusters. Real values, not wishes. Weak numbers honestly explained beat inflated ones.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36976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3697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236976"/>
            <a:ext cx="9372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with a live shareable link: demo.launch(share=True). Streamlit is a stretch goal, not the gate. If the app is down, you demo the notebook.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169664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16966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169664"/>
            <a:ext cx="9372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journal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doc of your key Claude prompts and what you changed after each answer. Your best prompt is part of your product. Judges will read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102352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3132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10235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5102352"/>
            <a:ext cx="9372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slides max for tomorrow: problem, live demo, honest findings, who your real customer is, what you would build next. 5 minutes + 3 of questions.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ai_assistant.rules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with Claude: the rules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Claude laptop per team.</a:t>
            </a:r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account belongs to your mentor. Rotate who drives it; everyone prompts at least once today.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explain-any-line rule.</a:t>
            </a:r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Tomorrow, any judge can point at any line of your notebook and ask what it does. 'Claude wrote it' is not an answer. If you cannot explain a line, ask Claude to explain it BEFORE you keep it.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it or it will show off.</a:t>
            </a:r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Tell Claude to use only what you learned: Decision Trees, K-Means, pandas, sklearn, matplotlib, gradio. Otherwise it hands you code you cannot defend on stage.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conversations.</a:t>
            </a:r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code breaks, paste the FULL red traceback to Claude and ask it to explain the error before fixing it. You learned this on Day 2: the last line of the traceback names the problem.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as you go.</a:t>
            </a:r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important prompt goes in the prompt journal, with one line on what you changed after. This is evidence of thinking, and judges reward it.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this, fill the blanks, then make it yours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opening prompt to Claude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424160" cy="4434840"/>
          </a:xfrm>
          <a:prstGeom prst="roundRect">
            <a:avLst>
              <a:gd name="adj" fmla="val 1443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1333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1333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1333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3716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prompt_v1.txt  //  printed on your team brief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74520"/>
            <a:ext cx="9966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helping a beginner team at a teen ML bootcamp.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problem: [one sentence, from your team slip]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real customer is: [the organisation your findings serve]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data is already loaded in Colab as a DataFrame called df.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 columns are: [run the data cell, then paste the list here]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column we want to predict is: [target, or "we will create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own label from column X"]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know ONLY: pandas, train_test_split, DecisionTreeClassifier,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KMeans, StandardScaler, accuracy, confusion matrix,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silhouette_score, pd.get_dummies, and gradio.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 short numbered cells, ONE small step at a time; comment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line; use only tools we have learned; after each cell add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sentence for a 15 year old; if the data has a problem,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it out and fix it with our tools, explaining why.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ONE cell that explores the data: shape, column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meanings, and anything suspicious.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5943600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181825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9436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the fence: </a:t>
            </a:r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'only tools we have learned', Claude shows off, and you cannot defend code you do not understand.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the opener: one move per message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follow-up moves,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3716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371600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clean the data based on what we found. One cell."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084832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0848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084832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split the data 80/20 with train_test_split, random_state=42."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798064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27980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798064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train a DecisionTreeClassifier with max_depth=3 and show accuracy AND the confusion matrix. Tell us what the lazy baseline would score."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511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511296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use StandardScaler and KMeans to cluster the data, print the silhouette score, and show a table that helps us describe each cluster in plain words."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24528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3132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42245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224528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build a simple Gradio app using our trained model. Inputs should be things our customer would actually know. One cell. Launch with share=True."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three emergency moves, any 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94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81825"/>
          </a:solidFill>
          <a:ln w="9525">
            <a:solidFill>
              <a:srgbClr val="F38B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394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BROKE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FULL red error, then: "Explain this error before you fix it."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5394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81825"/>
          </a:solidFill>
          <a:ln w="9525">
            <a:solidFill>
              <a:srgbClr val="F9E2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5394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UNCLEAR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cell [N] like I am 15."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5394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81825"/>
          </a:solidFill>
          <a:ln w="9525">
            <a:solidFill>
              <a:srgbClr val="CBA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5394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SHOW-OFF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uses something we have not learned. Redo it using only the tools from our list."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tomorrow, 5 minutes on stage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pitch: five slides, five minutes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day_5 // pitch spec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3132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716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9372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Who hurts, and how badly? No ML words allowed on this slide.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31324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2860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2286000"/>
            <a:ext cx="9372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app, make a real prediction in front of the judges. Have a screenshot backup in your slides in case wifi betrays you.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3132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004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3200400"/>
            <a:ext cx="9372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numbers, and what they mean for your customer. TrendCaster stood on stage and said 57.1%. That honesty is the standard.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313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1148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9372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customer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actual organisation your findings serve: a campaign, a charity, a hotel chain, a health programme, an observatory. What would they do with this on Monday?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3132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0292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691640" y="5029200"/>
            <a:ext cx="9372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would build with another week. Ambition, grounded in what you learned today.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minutes to pitch + 3 minutes of judge questions. Every team member speaks at least once.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you will be scored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Judging: six categories, three awards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19/20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day_5 // judging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71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clarity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your grandmother repeat the problem back after slide 1?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71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correctness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split, right methods, code that runs.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450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of evaluation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limits named, mistakes owned.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2450592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450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works, live, in the room.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52958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2958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quality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story, everyone speaks, lands in 5 minutes.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52958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3132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52958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under questioning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judge, any line of your notebook. You explain it.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three awards, none of them 'first place'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181825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Honest Evaluator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181825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52120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Thoughtful Builder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181825"/>
          </a:solidFill>
          <a:ln w="12700">
            <a:solidFill>
              <a:srgbClr val="FAB3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2120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Ambitious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great looks like 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not 100% accuracy.  </a:t>
            </a:r>
            <a:pPr indent="0" marL="0">
              <a:buNone/>
            </a:pPr>
            <a:r>
              <a:rPr lang="en-US" sz="1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knowing exactly what your number means and saying it plainly.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89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not code nobody understands.  </a:t>
            </a:r>
            <a:pPr indent="0" marL="0">
              <a:buNone/>
            </a:pPr>
            <a:r>
              <a:rPr lang="en-US" sz="1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a team where anyone can explain any cell.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not a perfect app.  </a:t>
            </a:r>
            <a:pPr indent="0" marL="0">
              <a:buNone/>
            </a:pPr>
            <a:r>
              <a:rPr lang="en-US" sz="1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is a real problem, honestly attacked, demoed live, and pitched like you mean it.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Checkpoint 1 is at 11:00. The clock starts when you draw your problem.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20/20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day_4 // startup challenge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2026-07-16T08:26:05Z</dcterms:created>
  <dcterms:modified xsi:type="dcterms:W3CDTF">2026-07-16T08:26:05Z</dcterms:modified>
</cp:coreProperties>
</file>