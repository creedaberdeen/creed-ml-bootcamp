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4070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~/day_02_supervised_unsupervised.py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─────────────────────────────────────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how ML actually learns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b="1" kern="0" spc="2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─────────────────────────────────────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"Supervised + Unsupervised, in real code"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datasets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["Palmer Penguins", "Spotify Songs"]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</a:t>
            </a: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day_two.start()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CREED  //  Fountain of Love RCCG  //  Aberdeen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welcome_back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 back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66360" cy="3931920"/>
          </a:xfrm>
          <a:prstGeom prst="roundRect">
            <a:avLst>
              <a:gd name="adj" fmla="val 2326"/>
            </a:avLst>
          </a:prstGeom>
          <a:solidFill>
            <a:srgbClr val="313244"/>
          </a:solidFill>
          <a:ln w="6350">
            <a:solidFill>
              <a:srgbClr val="6C70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yesterday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talked about ML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ML is and isn't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flavours of learning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40233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labels, data quality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45262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a model in the browser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55080" y="1828800"/>
            <a:ext cx="5166360" cy="3931920"/>
          </a:xfrm>
          <a:prstGeom prst="roundRect">
            <a:avLst>
              <a:gd name="adj" fmla="val 2326"/>
            </a:avLst>
          </a:prstGeom>
          <a:solidFill>
            <a:srgbClr val="313244"/>
          </a:solidFill>
          <a:ln w="19050">
            <a:solidFill>
              <a:srgbClr val="CBA6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today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0" y="23317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do ML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720840" y="3017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Python in real notebooks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3520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classifiers and regressors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720840" y="40233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data without labels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20840" y="45262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metrics that judge them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02 / 32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agenda_day_02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Today's agenda (10:00 to 14:00)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94560" y="17007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 back, recap Day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194560" y="19019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Re-anchor on supervised vs unsupervised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1488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94560" y="21579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Lightning talk: Spotify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194560" y="23591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on ML in recommendation systems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10:20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194560" y="26151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 your toolkit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94560" y="28163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Google Colab + scikit-learn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0632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10:40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94560" y="30723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Penguins: the supervised loop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194560" y="32735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split, train k-NN, evaluate properly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89DC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11:30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94560" y="35295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Penguins: unsupervised reveal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194560" y="37307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rediscovers species without labels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776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6C70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11:45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194560" y="39867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194560" y="41879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Snacks, questions, breathe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4348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F9E2A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12:00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194560" y="44439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Spotify: explore and clean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2194560" y="46451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33k tracks, real-world mess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8920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8920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49011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Spotify: regression + classification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194560" y="51023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popularity, then genre, with the right metrics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53492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13:15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194560" y="53583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Spotify: cluster and interpret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2194560" y="55595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Rediscover genres, then find new groupings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8064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13244"/>
          </a:solidFill>
          <a:ln w="15240">
            <a:solidFill>
              <a:srgbClr val="F38B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806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13:50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2194560" y="581558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2 wrap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2194560" y="601675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and Day 3 preview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03 / 32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~/part_01.py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 your toolkit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"Python + Colab + scikit-learn"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04 / 32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your_toolkit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+ Colab in 60 seconds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66360" cy="4023360"/>
          </a:xfrm>
          <a:prstGeom prst="roundRect">
            <a:avLst>
              <a:gd name="adj" fmla="val 2273"/>
            </a:avLst>
          </a:prstGeom>
          <a:solidFill>
            <a:srgbClr val="313244"/>
          </a:solidFill>
          <a:ln w="15240">
            <a:solidFill>
              <a:srgbClr val="F9E2A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659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201168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914400" y="28346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language ML lives in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3200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E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almost like English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37490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E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open, used by most ML teams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42976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E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ready-made libraries we'll use today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48463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E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Forgiving for beginners, powerful at scale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55080" y="1783080"/>
            <a:ext cx="5166360" cy="4023360"/>
          </a:xfrm>
          <a:prstGeom prst="roundRect">
            <a:avLst>
              <a:gd name="adj" fmla="val 2273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96596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43800" y="201168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Colab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6629400" y="28346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in your browser, no install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720840" y="3200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with a Google account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720840" y="37490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Google's servers, not your laptop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720840" y="42976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 "cells", run them one at a time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720840" y="48463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pandas, seaborn pre-installed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5943600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4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</a:t>
            </a:r>
            <a:r>
              <a:rPr lang="en-US" sz="14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colab.research.google.com</a:t>
            </a:r>
            <a:r>
              <a:rPr lang="en-US" sz="14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New notebook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05 / 32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first_cell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first Colab cell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93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9293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"Hello, future builder!"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press Shift + Enter to run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Hello, future builder!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10881360" cy="1115568"/>
          </a:xfrm>
          <a:prstGeom prst="roundRect">
            <a:avLst>
              <a:gd name="adj" fmla="val 6557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4381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17320" y="34381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can do maths too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7124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9867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(answer)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4864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650992"/>
            <a:ext cx="548640" cy="5486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00200" y="54864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 A cell is a box of code. Type it, hit Shift + Enter, see the result. We'll do the same thing with ML next.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06 / 32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~/part_02.py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Penguins, the supervised loop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"Small data, clean data, full pipeline"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07 / 32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the_dataset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 the Palmer Penguins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real data, collected by real scientists in Antarctica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344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penguins measured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480560" y="2743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in the dataset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32104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8321040" y="2743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features per penguin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33756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4564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species_01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7033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Adelie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4251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smallest, very common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80560" y="333756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34564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species_02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37033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Chinstrap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480560" y="4251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size to Adelie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21040" y="333756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34564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species_03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37033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Gentoo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4251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biggest, longer flipper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9377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313244"/>
          </a:solidFill>
          <a:ln w="19050">
            <a:solidFill>
              <a:srgbClr val="CBA6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029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question: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penguin's measurements, can a model predict which species it is?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08 / 32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load_data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 the data, take a look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938528"/>
          </a:xfrm>
          <a:prstGeom prst="roundRect">
            <a:avLst>
              <a:gd name="adj" fmla="val 3774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seaborn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the dataset (ships with seaborn, no download needed)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load_dataset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"penguins"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expected output: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480560"/>
          <a:ext cx="10881360" cy="12801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species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island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bill_length_mm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bill_depth_mm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flipper_length_mm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body_mass_g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Adelie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Torgersen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39.1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Adelie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Torgersen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39.5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17.4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Gentoo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Biscoe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46.1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09 / 32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prepare_and_split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Prepare features, split into train and test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3035808"/>
          </a:xfrm>
          <a:prstGeom prst="roundRect">
            <a:avLst>
              <a:gd name="adj" fmla="val 2410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drop any rows with missing values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dropna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penguins[[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"bill_length_mm"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"bill_depth_mm"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"flipper_length_mm"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"body_mass_g"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penguins[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"species"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7581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model_selection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40325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43068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y, test_size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random_state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486400"/>
            <a:ext cx="548640" cy="5486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00200" y="5212080"/>
            <a:ext cx="9784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split? </a:t>
            </a: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test the model on the data it learned from, of course it looks good. it saw the answers. </a:t>
            </a:r>
            <a:r>
              <a:rPr lang="en-US" sz="14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lets us check if it actually learned the pattern.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10 / 32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train_classifier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your first classifier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664208"/>
          </a:xfrm>
          <a:prstGeom prst="roundRect">
            <a:avLst>
              <a:gd name="adj" fmla="val 4396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neighbors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KNeighborsClassifier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look at the 5 nearest known penguins, vote on the species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KNeighborsClassifier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(n_neighbors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(X_train, y_train)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160520"/>
            <a:ext cx="10881360" cy="2286000"/>
          </a:xfrm>
          <a:prstGeom prst="roundRect">
            <a:avLst>
              <a:gd name="adj" fmla="val 4000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34340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91640" y="42519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k-NN thinks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691640" y="47091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classify a new penguin, find the 5 most similar penguins I already know. Whichever species shows up most among them, that's my guess."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69164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3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fancy maths. just measure distance, count votes.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11 / 32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evaluate_classifier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Evaluate: accuracy is just one number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664208"/>
          </a:xfrm>
          <a:prstGeom prst="roundRect">
            <a:avLst>
              <a:gd name="adj" fmla="val 4396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accuracy_score, confusion_matrix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(X_test)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f"Accuracy: 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accuracy_score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(y_test, predictions)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:.2%}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confusion_matrix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(y_test, predictions)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02336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</a:t>
            </a:r>
            <a:r>
              <a:rPr lang="en-US" sz="14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Accuracy: 98.51%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confusion matrix: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4709160"/>
          <a:ext cx="5029200" cy="14630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Adelie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Chinstrap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Gentoo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89B4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Adelie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AB38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Chinstrap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38B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Gentoo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4008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actual</a:t>
            </a: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</a:t>
            </a:r>
            <a:r>
              <a:rPr lang="en-US" sz="12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columns = predicted</a:t>
            </a: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</a:t>
            </a:r>
            <a:r>
              <a:rPr lang="en-US" sz="1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diagonal = correct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12 / 32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precision_recall_f1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numbers that matter more than accuracy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3657600" cy="3566160"/>
          </a:xfrm>
          <a:prstGeom prst="roundRect">
            <a:avLst>
              <a:gd name="adj" fmla="val 3077"/>
            </a:avLst>
          </a:prstGeom>
          <a:solidFill>
            <a:srgbClr val="313244"/>
          </a:solidFill>
          <a:ln w="19050">
            <a:solidFill>
              <a:srgbClr val="FAB38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Precision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56032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ones I predicted positive, how many actually were?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251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 I say Chinstrap, am I right?"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657600" cy="3566160"/>
          </a:xfrm>
          <a:prstGeom prst="roundRect">
            <a:avLst>
              <a:gd name="adj" fmla="val 3077"/>
            </a:avLst>
          </a:prstGeom>
          <a:solidFill>
            <a:srgbClr val="313244"/>
          </a:solidFill>
          <a:ln w="19050">
            <a:solidFill>
              <a:srgbClr val="89B4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9202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2628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actual positives, how many did I catch?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4251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"Did I find all the Chinstraps?"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737360"/>
            <a:ext cx="3657600" cy="3566160"/>
          </a:xfrm>
          <a:prstGeom prst="roundRect">
            <a:avLst>
              <a:gd name="adj" fmla="val 3077"/>
            </a:avLst>
          </a:prstGeom>
          <a:solidFill>
            <a:srgbClr val="313244"/>
          </a:solidFill>
          <a:ln w="19050">
            <a:solidFill>
              <a:srgbClr val="CBA6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0" y="19202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 score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412480" y="256032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(P · R) / (P + R)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balance between precision and recall.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21040" y="4251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that captures both.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53212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6784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17320" y="56784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classification_report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417320" y="59527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classification_report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(y_test, predictions))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13 / 32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~/part_03.py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03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Unsupervised reveal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"Same penguins, no labels. Can the model still find the species?"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14 / 32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kmeans_penguins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K-means rediscovers the species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2761488"/>
          </a:xfrm>
          <a:prstGeom prst="roundRect">
            <a:avLst>
              <a:gd name="adj" fmla="val 2649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preprocessing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X_scaled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fit_transform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y. the model has no idea about species.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(n_clusters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random_state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n_init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7581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fit_predict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(X_scaled)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40325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crosstab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(y, clusters)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617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output: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4892040"/>
          <a:ext cx="7589520" cy="14630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cluster →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89B4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AB38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Adelie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89B4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146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Chinstrap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AB38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67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Gentoo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119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</a:t>
            </a:r>
            <a:r>
              <a:rPr lang="en-US" sz="13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model found the species without ever being told they exist.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15 / 32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~/part_04.py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04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Spotify, the real world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"32,833 songs, three problems, every metric we just learned"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16 / 32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spotify_dataset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 the Spotify Songs dataset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32,833 real tracks from Spotify, every audio feature their model uses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32,833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196596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20116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6517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per track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321040" y="196596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0116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playlist genres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3520440" cy="3017520"/>
          </a:xfrm>
          <a:prstGeom prst="roundRect">
            <a:avLst>
              <a:gd name="adj" fmla="val 3030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83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regression</a:t>
            </a:r>
            <a:endParaRPr lang="en-US" sz="12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260" y="3749040"/>
            <a:ext cx="640080" cy="6400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22960" y="45262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popular will a track be?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68680" y="53492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track_popularity (0–100)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480560" y="3246120"/>
            <a:ext cx="3520440" cy="3017520"/>
          </a:xfrm>
          <a:prstGeom prst="roundRect">
            <a:avLst>
              <a:gd name="adj" fmla="val 3030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80560" y="3383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classification</a:t>
            </a:r>
            <a:endParaRPr lang="en-US" sz="12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3749040"/>
            <a:ext cx="640080" cy="640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663440" y="45262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genre does it belong to?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709160" y="53492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playlist_genre ("pop", "rap", "rock", ...)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321040" y="3246120"/>
            <a:ext cx="3520440" cy="3017520"/>
          </a:xfrm>
          <a:prstGeom prst="roundRect">
            <a:avLst>
              <a:gd name="adj" fmla="val 3030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321040" y="3383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clustering</a:t>
            </a:r>
            <a:endParaRPr lang="en-US" sz="12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1220" y="3749040"/>
            <a:ext cx="640080" cy="64008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503920" y="45262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natural groups exist in the music?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8549640" y="53492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label, let the model find structure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17 / 32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explore_spotify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1: look at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2761488"/>
          </a:xfrm>
          <a:prstGeom prst="roundRect">
            <a:avLst>
              <a:gd name="adj" fmla="val 2649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"https://raw.githubusercontent.com/rfordatascience/tidytuesday/"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"master/data/2020/2020-01-21/spotify_songs.csv"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read_csv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(url)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shape, songs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7581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40325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"playlist_genre"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value_counts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881360" cy="1828800"/>
          </a:xfrm>
          <a:prstGeom prst="roundRect">
            <a:avLst>
              <a:gd name="adj" fmla="val 4000"/>
            </a:avLst>
          </a:prstGeom>
          <a:solidFill>
            <a:srgbClr val="181825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7091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expected output (genre counts):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49834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edm    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6043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rap    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5746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    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5507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r&amp;b    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5431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latin  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5155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rock   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4951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18 / 32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clean_spotify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2: clean it 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3858768"/>
          </a:xfrm>
          <a:prstGeom prst="roundRect">
            <a:avLst>
              <a:gd name="adj" fmla="val 1896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how many nulls? any duplicates?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isnull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duplicated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(subset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"track_id"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drop nulls, drop duplicate tracks, keep the audio features we need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(songs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dropna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7581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drop_duplicates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(subset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"track_id"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40325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reset_index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43068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5811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"danceability"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"energy"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"loudness"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"speechiness"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48554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"acousticness"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"instrumentalness"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"liveness"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51297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"valence"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"tempo"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"duration_ms"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89788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313244"/>
          </a:solidFill>
          <a:ln w="12700">
            <a:solidFill>
              <a:srgbClr val="FAB387"/>
            </a:solidFill>
            <a:prstDash val="solid"/>
          </a:ln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43600"/>
            <a:ext cx="411480" cy="411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80160" y="589788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needs cleaning. </a:t>
            </a: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dropping nulls and duplicate tracks, we keep 28,356 unique songs.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19 / 32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~/part_05.py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05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Regression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"Predict track popularity (a number, not a category)"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20 / 32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train_regressor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track popularity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3858768"/>
          </a:xfrm>
          <a:prstGeom prst="roundRect">
            <a:avLst>
              <a:gd name="adj" fmla="val 1896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ensemble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RandomForestRegressor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model_selection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songs[features]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"track_popularity"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  </a:t>
            </a: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number from 0 to 100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7581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y, test_size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random_state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40325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43068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Random Forest: many decision trees voting together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5811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RandomForestRegressor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(n_estimators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random_state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48554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(X_train, y_train)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51297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(X_test)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94360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313244"/>
          </a:solidFill>
          <a:ln w="12700">
            <a:solidFill>
              <a:srgbClr val="CBA6F7"/>
            </a:solidFill>
            <a:prstDash val="solid"/>
          </a:ln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411480" cy="411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80160" y="59436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= </a:t>
            </a: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lots of decision trees, each on a slightly different slice of the data, votes averaged together.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21 / 32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regression_metrics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numbers that judge a regressor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313244"/>
          </a:solidFill>
          <a:ln w="19050">
            <a:solidFill>
              <a:srgbClr val="FAB38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 Absolute Error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mean( |y − ŷ| 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337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average, how far off am I?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units as the thing you're predicting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169164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313244"/>
          </a:solidFill>
          <a:ln w="19050">
            <a:solidFill>
              <a:srgbClr val="F38B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5196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25196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Mean Squared Error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17720" y="274320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√ mean( (y − ŷ)² 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3337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MAE, but punishes big mistakes more.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units, more sensitive to outliers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313244"/>
          </a:solidFill>
          <a:ln w="19050">
            <a:solidFill>
              <a:srgbClr val="A6E3A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04672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R-squared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412480" y="274320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1 − SS_res / SS_tot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3337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variation does my model explain?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21040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1. Closer to 1 is better.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881360" cy="1664208"/>
          </a:xfrm>
          <a:prstGeom prst="roundRect">
            <a:avLst>
              <a:gd name="adj" fmla="val 4396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0840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17320" y="50840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mean_absolute_error, mean_squared_error, r2_score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3583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17320" y="56327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f"MAE:  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mean_absolute_error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(y_test, preds)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:.2f}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417320" y="59070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f"RMSE: 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sqrt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mean_squared_error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(y_test, preds))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:.2f}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17320" y="61813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f"R²:   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r2_score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(y_test, preds)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:.3f}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22 / 32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regression_results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our regressor actually achieves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313244"/>
          </a:solidFill>
          <a:ln w="19050">
            <a:solidFill>
              <a:srgbClr val="FAB38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16.7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~17 popularity points on average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169164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313244"/>
          </a:solidFill>
          <a:ln w="19050">
            <a:solidFill>
              <a:srgbClr val="F38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51960" y="21945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21.4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262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because some predictions are way off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69164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313244"/>
          </a:solidFill>
          <a:ln w="19050">
            <a:solidFill>
              <a:srgbClr val="A6E3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21945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0.12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32104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explains ~12% of the variation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10881360" cy="2286000"/>
          </a:xfrm>
          <a:prstGeom prst="roundRect">
            <a:avLst>
              <a:gd name="adj" fmla="val 4000"/>
            </a:avLst>
          </a:prstGeom>
          <a:solidFill>
            <a:srgbClr val="313244"/>
          </a:solidFill>
          <a:ln w="19050">
            <a:solidFill>
              <a:srgbClr val="CBA6F7"/>
            </a:solidFill>
            <a:prstDash val="solid"/>
          </a:ln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389120"/>
            <a:ext cx="640080" cy="6400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91640" y="4297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honest read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91640" y="4800600"/>
            <a:ext cx="9601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features alone don't tell you if a song will be a hit. </a:t>
            </a:r>
            <a:r>
              <a:rPr lang="en-US" sz="14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Promotion, artist fame, release timing, and luck matter more than tempo or energy. </a:t>
            </a:r>
            <a:r>
              <a:rPr lang="en-US" sz="14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failure of the model. It's the model telling us the truth about the problem.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23 / 32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~/part_06.py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06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"Predict playlist genre from audio features"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24 / 32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genre_classifier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the playlist genre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2487168"/>
          </a:xfrm>
          <a:prstGeom prst="roundRect">
            <a:avLst>
              <a:gd name="adj" fmla="val 2941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ensemble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RandomForestClassifier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classification_report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"playlist_genre"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(X, y, test_size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clf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RandomForestClassifier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(n_estimators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(X_train, y_train)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7581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classification_report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(y_test, clf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(X_test)))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206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expected output (accuracy ≈ 55%, genre is hard):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4526280"/>
          <a:ext cx="7589520" cy="20269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genre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AB38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precision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9B4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f1-score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edm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rap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0.59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0.66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rock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0.58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38B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38B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0.39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38B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r&amp;b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latin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25 / 32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classifier_interp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 between the metrics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EDM is easy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and energy give it away. F1 of 0.73 means we catch most EDM tracks and rarely call something else EDM by mistake.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313244"/>
          </a:solidFill>
          <a:ln w="15240">
            <a:solidFill>
              <a:srgbClr val="F38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1089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 is hard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of 0.40 says it all. Pop borrows from every other genre. Audio features alone can't separate it cleanly, and the model knows it.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97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Precision vs recall trade-offs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46634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genres score higher on precision than recall, or vice versa. That tells us where the model is confident vs where it casts a wide net.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4864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this is more honest than accuracy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accuracy hides which classes are easy and which are impossible. Per-class F1 tells the truth.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26 / 32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~/part_07.py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Clustering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"First rediscover genres, then find what they miss"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27 / 32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cluster_pass_1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1: ask for 6 clusters, see if they match genres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3035808"/>
          </a:xfrm>
          <a:prstGeom prst="roundRect">
            <a:avLst>
              <a:gd name="adj" fmla="val 2410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preprocessing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 </a:t>
            </a: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X_scaled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fit_transform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(songs[features])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clusters because we know there are 6 genres in the data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kmeans6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(n_clusters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random_state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n_init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7581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"cluster_6"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kmeans6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fit_predict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(X_scaled)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40325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43068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crosstab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(songs[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"playlist_genre"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songs[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"cluster_6"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617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expected crosstab (each row should peak in ONE cluster if it worked):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892040"/>
          <a:ext cx="10424160" cy="14630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cluster →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9B4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AB38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38B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9E2A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edm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3,420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1,100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rap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9B4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2,800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640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rock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AB38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2,150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740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560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920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38B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830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640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edm, rap, rock cluster cleanly. pop is smeared across all six. (look familiar from the classifier?)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28 / 32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cluster_pass_2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2: forget genres, ask what the music actually says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2212848"/>
          </a:xfrm>
          <a:prstGeom prst="roundRect">
            <a:avLst>
              <a:gd name="adj" fmla="val 3306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time, pick K=4 and look at the cluster CENTRES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122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kmeans4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(n_clusters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random_state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n_init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songs[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"cluster_4"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kmeans4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fit_predict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(X_scaled)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660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what's the average song in each cluster look like?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centres 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groupby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"cluster_4"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)[features]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centres</a:t>
            </a: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interpreted centres (rounded):</a:t>
            </a:r>
            <a:endParaRPr lang="en-US" sz="1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97680"/>
          <a:ext cx="10881360" cy="16002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danceability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energy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acousticness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tempo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6C708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valence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vibe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89B4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cluster 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party / club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AB38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cluster 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high-energy guitars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cluster 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F38B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A6E3A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mellow / acoustic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cluster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DD6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BA6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rap / hip-hop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5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40080" y="594360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313244"/>
          </a:solidFill>
          <a:ln w="12700">
            <a:solidFill>
              <a:srgbClr val="CBA6F7"/>
            </a:solidFill>
            <a:prstDash val="solid"/>
          </a:ln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411480" cy="4114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0160" y="59436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clusters aren't genres. they're </a:t>
            </a:r>
            <a:r>
              <a:rPr lang="en-US" sz="1300" b="1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vibes</a:t>
            </a: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same kind of grouping Spotify uses to build mood playlists like </a:t>
            </a:r>
            <a:r>
              <a:rPr lang="en-US" sz="1300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"Chill Hits" </a:t>
            </a: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r>
              <a:rPr lang="en-US" sz="1300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"Hype Workout"</a:t>
            </a: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29 / 32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~/part_08.py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08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Wrapping up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you can now do that you couldn't this morning"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30 / 32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day_02_recap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Five things you can now 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883664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97480" y="1764792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and run Python in Colab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697480" y="207568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notebook, type a cell, get an answer. The whole ML world starts here.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26060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26974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2798064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97480" y="2679192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a supervised classifier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697480" y="299008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Penguins to species, songs to genre. Same loop, different data.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5204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77240" y="36118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712464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697480" y="3593592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the right metric for the job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697480" y="390448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confusion matrix, precision, recall, F1 for classification. MAE, RMSE, R² for regression.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4348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77240" y="45262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36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0" y="4626864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697480" y="4507992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 data with K-means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2697480" y="481888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K, scale, fit_predict, then read the centres to understand what each group represents.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40080" y="53492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313244"/>
          </a:solidFill>
          <a:ln w="15240">
            <a:solidFill>
              <a:srgbClr val="F9E2A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77240" y="54406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36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1680" y="5541264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697480" y="5422392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Tell when a model is honest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2697480" y="573328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R² on song popularity isn't failure. It's the data telling you the truth about the problem.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31 / 32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tomorrow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03: image classifiers, your choice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66360" cy="4343400"/>
          </a:xfrm>
          <a:prstGeom prst="roundRect">
            <a:avLst>
              <a:gd name="adj" fmla="val 2105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0312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1031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we'll do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914400" y="30175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numbers to pixels: teach a model to see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36576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of several projects (food, sport, art, plants)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429768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Train, test, and break your own image classifier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493776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metrics you learned today on visual data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55080" y="1828800"/>
            <a:ext cx="5166360" cy="4343400"/>
          </a:xfrm>
          <a:prstGeom prst="roundRect">
            <a:avLst>
              <a:gd name="adj" fmla="val 2105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10312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06640" y="21031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 your project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629400" y="301752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vs not food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629400" y="35844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disease detector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629400" y="415137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Sneaker brand classifier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629400" y="4718304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language recognition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629400" y="528523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style sorter (cubist, pop art, ...)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02  //  32 / 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3479</Words>
  <Application>Microsoft Macintosh PowerPoint</Application>
  <PresentationFormat>Widescreen</PresentationFormat>
  <Paragraphs>623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THE FUTURE - Day 2</dc:title>
  <dc:subject>PptxGenJS Presentation</dc:subject>
  <dc:creator>Oluwaseun, Startup Grind Aberdeen x CREED</dc:creator>
  <cp:lastModifiedBy>OLABODE, OLUWASEUN (PGR)</cp:lastModifiedBy>
  <cp:revision>1</cp:revision>
  <dcterms:created xsi:type="dcterms:W3CDTF">2026-06-09T11:31:53Z</dcterms:created>
  <dcterms:modified xsi:type="dcterms:W3CDTF">2026-06-09T11:53:58Z</dcterms:modified>
</cp:coreProperties>
</file>