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8686800" cy="384048"/>
          </a:xfrm>
          <a:prstGeom prst="rect">
            <a:avLst/>
          </a:prstGeom>
          <a:solidFill>
            <a:srgbClr val="161626"/>
          </a:solidFill>
          <a:ln w="12700">
            <a:solidFill>
              <a:srgbClr val="16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92024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9202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02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097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~/trendcaster.py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01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short-form video trend trajectories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─────────────────────────────────────────────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8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8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"XGBoost"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</a:t>
            </a:r>
            <a:pPr indent="0" marL="0">
              <a:buNone/>
            </a:pPr>
            <a:r>
              <a:rPr lang="en-US" sz="18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8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["rising", "stable", "declining", "seasonal"]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0C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8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trendcaster.predict(your_video)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0" y="46405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CREED  //  Fountain of Love RCCG  //  Aberdeen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02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what_it_is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TrendCaster?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3246120"/>
          </a:xfrm>
          <a:prstGeom prst="roundRect">
            <a:avLst>
              <a:gd name="adj" fmla="val 3380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 before you post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creator is about to post a video. Will it rise, hold steady, decline, or spike seasonally?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TrendCaster predicts the trajectory using only information known before the video goes live.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60520" cy="3246120"/>
          </a:xfrm>
          <a:prstGeom prst="roundRect">
            <a:avLst>
              <a:gd name="adj" fmla="val 3380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method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19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CRISP-DM end to 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176272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filtering + leakage removal 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+ SMOTE rebalancing 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Three-model comparison 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Hugging Face Spaces  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03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how_to_use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use it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1938528" cy="3108960"/>
          </a:xfrm>
          <a:prstGeom prst="roundRect">
            <a:avLst>
              <a:gd name="adj" fmla="val 5660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7276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21031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65176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jaywebmart-trendcaster.hf.space in any browser. No login, no install.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1389888"/>
            <a:ext cx="1938528" cy="3108960"/>
          </a:xfrm>
          <a:prstGeom prst="roundRect">
            <a:avLst>
              <a:gd name="adj" fmla="val 5660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57276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42032" y="21031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the nine fields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42032" y="265176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category, region, language, creator tier, traffic source, device, title length, weekend hashtag boost.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389888"/>
            <a:ext cx="1938528" cy="3108960"/>
          </a:xfrm>
          <a:prstGeom prst="roundRect">
            <a:avLst>
              <a:gd name="adj" fmla="val 5660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57276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45152" y="21031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 trajectory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5152" y="265176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Predict trajectory and the result appears on the right.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389888"/>
            <a:ext cx="1938528" cy="3108960"/>
          </a:xfrm>
          <a:prstGeom prst="roundRect">
            <a:avLst>
              <a:gd name="adj" fmla="val 5660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57276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48272" y="21031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48272" y="265176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class, confidence score, and probability breakdown across all four trend types.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8595360" cy="347472"/>
          </a:xfrm>
          <a:prstGeom prst="roundRect">
            <a:avLst>
              <a:gd name="adj" fmla="val 31579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0C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ctr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 </a:t>
            </a:r>
            <a:pPr algn="ctr" indent="0" marL="0">
              <a:buNone/>
            </a:pPr>
            <a:r>
              <a:rPr lang="en-US" sz="1300" dirty="0">
                <a:solidFill>
                  <a:srgbClr val="50C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jaywebmart-trendcaster.hf.space</a:t>
            </a:r>
            <a:pPr algn="ctr" indent="0" marL="0">
              <a:buNone/>
            </a:pPr>
            <a:r>
              <a:rPr lang="en-US" sz="13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New 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04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trend_labels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four classes mean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447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912" y="1901952"/>
            <a:ext cx="1572768" cy="18288"/>
          </a:xfrm>
          <a:prstGeom prst="rect">
            <a:avLst/>
          </a:prstGeom>
          <a:solidFill>
            <a:srgbClr val="585880"/>
          </a:solidFill>
          <a:ln w="12700">
            <a:solidFill>
              <a:srgbClr val="5858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11680"/>
            <a:ext cx="16642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traction. Views growing over time. The video is finding its audience.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50592" y="1298448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4447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15184" y="1901952"/>
            <a:ext cx="1572768" cy="18288"/>
          </a:xfrm>
          <a:prstGeom prst="rect">
            <a:avLst/>
          </a:prstGeom>
          <a:solidFill>
            <a:srgbClr val="585880"/>
          </a:solidFill>
          <a:ln w="12700">
            <a:solidFill>
              <a:srgbClr val="5858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2011680"/>
            <a:ext cx="16642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performance. Neither growing nor shrinking. The most common class (55%).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26864" y="1298448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4447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declining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91456" y="1901952"/>
            <a:ext cx="1572768" cy="18288"/>
          </a:xfrm>
          <a:prstGeom prst="rect">
            <a:avLst/>
          </a:prstGeom>
          <a:solidFill>
            <a:srgbClr val="585880"/>
          </a:solidFill>
          <a:ln w="12700">
            <a:solidFill>
              <a:srgbClr val="5858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011680"/>
            <a:ext cx="16642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momentum after an initial peak. Traffic is cooling off.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03136" y="1298448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14447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0C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67728" y="1901952"/>
            <a:ext cx="1572768" cy="18288"/>
          </a:xfrm>
          <a:prstGeom prst="rect">
            <a:avLst/>
          </a:prstGeom>
          <a:solidFill>
            <a:srgbClr val="585880"/>
          </a:solidFill>
          <a:ln w="12700">
            <a:solidFill>
              <a:srgbClr val="5858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2011680"/>
            <a:ext cx="16642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a recurring event. Spikes during Ramadan, holidays, back-to-school, then drops.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05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model_performance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good is it, honestly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57.1%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beat: 55.4%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2801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389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64992" y="20299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metric for imbalanced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2801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389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72784" y="20299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88,628 rows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35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strongest_signal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weekend_hashtag_boost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27% of the model's decisions. The combination of weekend timing and a popular hashtag is by far the strongest pre-posting signal we have.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035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weakest_spot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"declining" class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6758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available before posting do not separate declining from stable reliably. This is a data limitation, not a bug.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06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data_leakage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excluded engagement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3246120"/>
          </a:xfrm>
          <a:prstGeom prst="roundRect">
            <a:avLst>
              <a:gd name="adj" fmla="val 3380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excluded  (leaky)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like_rate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comment_rate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engagement_velocity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views_per_day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completion_rate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rel_combo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298448"/>
            <a:ext cx="4160520" cy="3246120"/>
          </a:xfrm>
          <a:prstGeom prst="roundRect">
            <a:avLst>
              <a:gd name="adj" fmla="val 3380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kept  (clean)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+ 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creator_tier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962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traffic_source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device_brand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title_len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weekend_hashtag_boost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algn="l" indent="0" marL="0">
              <a:buNone/>
            </a:pPr>
            <a:r>
              <a:rPr lang="en-US" sz="12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creator cannot know it before pressing post, the model cannot use it. Engagement features only exist after the video is live — using them to predict trend label would be circular.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07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model_selection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models, one winner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predicted "declining" once. Gamed the class imbalance by defaulting to stable.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128016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389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364992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50.3%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64992" y="2788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0.431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64992" y="3456432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balanced predictions but lower overall accuracy.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128016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389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72784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57.1%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72784" y="2788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72784" y="3456432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F1. Predicts all four classes. Fast at 8.1s. Deployed.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8686800" cy="384048"/>
          </a:xfrm>
          <a:prstGeom prst="rect">
            <a:avLst/>
          </a:prstGeom>
          <a:solidFill>
            <a:srgbClr val="161626"/>
          </a:solidFill>
          <a:ln w="12700">
            <a:solidFill>
              <a:srgbClr val="16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92024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9202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02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097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~/demo.py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BUILD_THE_FUTURE.py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TrendCaster  //  08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try it 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9875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 live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─────────────────────────────────────────────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18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buNone/>
            </a:pPr>
            <a:r>
              <a:rPr lang="en-US" sz="18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"https://jaywebmart-trendcaster.hf.space"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0C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800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webbrowser.open(url)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8412480" cy="1444752"/>
          </a:xfrm>
          <a:prstGeom prst="roundRect">
            <a:avLst>
              <a:gd name="adj" fmla="val 7595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649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suggested test inputs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TikTok + Sports + Macro creator + weekend boost  →  </a:t>
            </a:r>
            <a:pPr algn="ctr" indent="0" marL="0">
              <a:buNone/>
            </a:pPr>
            <a:r>
              <a:rPr lang="en-US" sz="1200" b="1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 + News + Micro creator + no boost  →  </a:t>
            </a:r>
            <a:pPr algn="ctr" indent="0" marL="0">
              <a:buNone/>
            </a:pPr>
            <a:r>
              <a:rPr lang="en-US" sz="12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6405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CREED  //  Fountain of Love RCCG  //  Aberdeen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8686800" cy="384048"/>
          </a:xfrm>
          <a:prstGeom prst="rect">
            <a:avLst/>
          </a:prstGeom>
          <a:solidFill>
            <a:srgbClr val="161626"/>
          </a:solidFill>
          <a:ln w="12700">
            <a:solidFill>
              <a:srgbClr val="16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92024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9202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02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097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~/gradio_deploy.py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 //  09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what_is_gradio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8961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notebook to live link.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642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the_problem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now only YOU can use your model.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lives inside your Colab notebook. To get a prediction, someone has to open your notebook, run every cell, and know Python.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a product. That is a science experiment.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69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model.predict(X)   # only works inside Colab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554480"/>
            <a:ext cx="4343400" cy="3200400"/>
          </a:xfrm>
          <a:prstGeom prst="roundRect">
            <a:avLst>
              <a:gd name="adj" fmla="val 3429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6420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the_solution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Gradio gives your model a front door.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wraps your model in a web page with input fields and a predict button. Run one line and you get a public URL.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open it on their phone or laptop — no Python, no Colab, no code. They type in values and your model answers.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4005072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0D1F0D"/>
          </a:solidFill>
          <a:ln w="9525">
            <a:solidFill>
              <a:srgbClr val="98D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087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on public URL:  </a:t>
            </a:r>
            <a:pPr indent="0" marL="0">
              <a:buNone/>
            </a:pPr>
            <a:r>
              <a:rPr lang="en-US" sz="1050" b="1" dirty="0">
                <a:solidFill>
                  <a:srgbClr val="50C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https://abc123.gradio.live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0" y="48508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 //  10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deploy_your_model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these four cells after your model is trained.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97280"/>
            <a:ext cx="329184" cy="329184"/>
          </a:xfrm>
          <a:prstGeom prst="ellipse">
            <a:avLst/>
          </a:prstGeom>
          <a:solidFill>
            <a:srgbClr val="50C3A5"/>
          </a:solidFill>
          <a:ln w="12700">
            <a:solidFill>
              <a:srgbClr val="50C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0642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11064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3167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Gradio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276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gradio -q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20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once. The -q keeps the output quiet.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969264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097280"/>
            <a:ext cx="329184" cy="329184"/>
          </a:xfrm>
          <a:prstGeom prst="ellipse">
            <a:avLst/>
          </a:prstGeom>
          <a:solidFill>
            <a:srgbClr val="50C3A5"/>
          </a:solidFill>
          <a:ln w="12700">
            <a:solidFill>
              <a:srgbClr val="50C3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10642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12664" y="11064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12664" y="13167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16276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1920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next to your other imports.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487168"/>
            <a:ext cx="4160520" cy="2212848"/>
          </a:xfrm>
          <a:prstGeom prst="roundRect">
            <a:avLst>
              <a:gd name="adj" fmla="val 4959"/>
            </a:avLst>
          </a:prstGeom>
          <a:solidFill>
            <a:srgbClr val="272742"/>
          </a:solidFill>
          <a:ln w="19050">
            <a:solidFill>
              <a:srgbClr val="9370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615184"/>
            <a:ext cx="329184" cy="32918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6243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" y="26243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C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wrap_your_model  ← the only step you customise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346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your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" y="31455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predict(input1, input2):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 = pd.DataFrame([[input1, input2]], columns=features)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str(model.predict(row)[0])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= gr.Interface(fn=predict,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inputs=[gr.Dropdown([...]), gr.Textbox()],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outputs="text", title="Your App")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42611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inputs to match YOUR feature names and types.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487168"/>
            <a:ext cx="4160520" cy="2212848"/>
          </a:xfrm>
          <a:prstGeom prst="roundRect">
            <a:avLst>
              <a:gd name="adj" fmla="val 4959"/>
            </a:avLst>
          </a:prstGeom>
          <a:solidFill>
            <a:srgbClr val="272742"/>
          </a:solidFill>
          <a:ln w="9525">
            <a:solidFill>
              <a:srgbClr val="5858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2615184"/>
            <a:ext cx="329184" cy="329184"/>
          </a:xfrm>
          <a:prstGeom prst="ellipse">
            <a:avLst/>
          </a:prstGeom>
          <a:solidFill>
            <a:srgbClr val="98D4A0"/>
          </a:solidFill>
          <a:ln w="12700">
            <a:solidFill>
              <a:srgbClr val="98D4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6243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12664" y="26243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get_your_link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12664" y="28346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your link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31455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demo.launch(share=True)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42611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appears. Copy it into your pitch slide immediately.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773168"/>
            <a:ext cx="8595360" cy="18288"/>
          </a:xfrm>
          <a:prstGeom prst="rect">
            <a:avLst/>
          </a:prstGeom>
          <a:solidFill>
            <a:srgbClr val="585880"/>
          </a:solidFill>
          <a:ln w="12700">
            <a:solidFill>
              <a:srgbClr val="5858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EB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Colab tab open.  </a:t>
            </a:r>
            <a:pPr indent="0" marL="0">
              <a:buNone/>
            </a:pPr>
            <a:r>
              <a:rPr lang="en-US" sz="10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only works while Colab is running. Re-run Step 4 tomorrow morning before you pitch.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2026-07-16T09:55:30Z</dcterms:created>
  <dcterms:modified xsi:type="dcterms:W3CDTF">2026-07-16T09:55:30Z</dcterms:modified>
</cp:coreProperties>
</file>