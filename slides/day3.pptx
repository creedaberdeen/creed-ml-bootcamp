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0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91440"/>
            <a:ext cx="8686800" cy="384048"/>
          </a:xfrm>
          <a:prstGeom prst="rect">
            <a:avLst/>
          </a:prstGeom>
          <a:solidFill>
            <a:srgbClr val="161626"/>
          </a:solidFill>
          <a:ln w="12700">
            <a:solidFill>
              <a:srgbClr val="16162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84048" y="192024"/>
            <a:ext cx="118872" cy="11887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92024"/>
            <a:ext cx="118872" cy="118872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92024"/>
            <a:ext cx="118872" cy="11887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0" y="109728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~/trendcaster.py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48508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848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BUILD_THE_FUTURE.py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943600" y="485089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848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TrendCaster  //  01 / 08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65760" y="685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B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predict short-form video trend trajectories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10058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spc="400" kern="0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TRENDCASTER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365760" y="22402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─────────────────────────────────────────────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2651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4D4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pPr indent="0" marL="0">
              <a:buNone/>
            </a:pPr>
            <a:r>
              <a:rPr lang="en-US" sz="1800" dirty="0">
                <a:solidFill>
                  <a:srgbClr val="888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800" dirty="0">
                <a:solidFill>
                  <a:srgbClr val="98D4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"XGBoost"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65760" y="3017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4D4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classes</a:t>
            </a:r>
            <a:pPr indent="0" marL="0">
              <a:buNone/>
            </a:pPr>
            <a:r>
              <a:rPr lang="en-US" sz="1800" dirty="0">
                <a:solidFill>
                  <a:srgbClr val="888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800" dirty="0">
                <a:solidFill>
                  <a:srgbClr val="98D4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["rising", "stable", "declining", "seasonal"]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65760" y="3474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0C3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</a:t>
            </a:r>
            <a:pPr indent="0" marL="0">
              <a:buNone/>
            </a:pPr>
            <a:r>
              <a:rPr lang="en-US" sz="1800" dirty="0">
                <a:solidFill>
                  <a:srgbClr val="D4D4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trendcaster.predict(your_video)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0" y="464058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848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CREED  //  Fountain of Love RCCG  //  Aberdeen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0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48508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848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BUILD_THE_FUTURE.py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943600" y="485089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848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TrendCaster  //  02 /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6B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what_it_is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is TrendCaster?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274320" y="1298448"/>
            <a:ext cx="4160520" cy="3246120"/>
          </a:xfrm>
          <a:prstGeom prst="roundRect">
            <a:avLst>
              <a:gd name="adj" fmla="val 3380"/>
            </a:avLst>
          </a:prstGeom>
          <a:solidFill>
            <a:srgbClr val="272742"/>
          </a:solidFill>
          <a:ln w="9525">
            <a:solidFill>
              <a:srgbClr val="5858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4173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problem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171907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 before you post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" y="2176272"/>
            <a:ext cx="3703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D4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creator is about to post a video. Will it rise, hold steady, decline, or spike seasonally?
</a:t>
            </a:r>
            <a:pPr algn="l" indent="0" marL="0">
              <a:buNone/>
            </a:pPr>
            <a:r>
              <a:rPr lang="en-US" sz="1300" dirty="0">
                <a:solidFill>
                  <a:srgbClr val="D4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TrendCaster predicts the trajectory using only information known before the video goes live.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09160" y="1298448"/>
            <a:ext cx="4160520" cy="3246120"/>
          </a:xfrm>
          <a:prstGeom prst="roundRect">
            <a:avLst>
              <a:gd name="adj" fmla="val 3380"/>
            </a:avLst>
          </a:prstGeom>
          <a:solidFill>
            <a:srgbClr val="272742"/>
          </a:solidFill>
          <a:ln w="19050">
            <a:solidFill>
              <a:srgbClr val="9370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14173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method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937760" y="171907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CRISP-DM end to end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937760" y="2176272"/>
            <a:ext cx="3749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D4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understanding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D4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filtering + leakage removal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D4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Encoding + SMOTE rebalancing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D4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Three-model comparison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D4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on Hugging Face Spaces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0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48508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848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BUILD_THE_FUTURE.py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943600" y="485089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848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TrendCaster  //  03 /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6B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how_to_use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to use it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274320" y="1389888"/>
            <a:ext cx="1938528" cy="3108960"/>
          </a:xfrm>
          <a:prstGeom prst="roundRect">
            <a:avLst>
              <a:gd name="adj" fmla="val 5660"/>
            </a:avLst>
          </a:prstGeom>
          <a:solidFill>
            <a:srgbClr val="272742"/>
          </a:solidFill>
          <a:ln w="9525">
            <a:solidFill>
              <a:srgbClr val="5858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8912" y="1572768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38912" y="2103120"/>
            <a:ext cx="1664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D4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the demo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38912" y="2651760"/>
            <a:ext cx="168249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to jaywebmart-trendcaster.hf.space in any browser. No login, no install needed.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377440" y="1389888"/>
            <a:ext cx="1938528" cy="3108960"/>
          </a:xfrm>
          <a:prstGeom prst="roundRect">
            <a:avLst>
              <a:gd name="adj" fmla="val 5660"/>
            </a:avLst>
          </a:prstGeom>
          <a:solidFill>
            <a:srgbClr val="272742"/>
          </a:solidFill>
          <a:ln w="9525">
            <a:solidFill>
              <a:srgbClr val="5858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42032" y="1572768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2542032" y="2103120"/>
            <a:ext cx="1664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D4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 the nine fields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542032" y="2651760"/>
            <a:ext cx="168249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Platform, category, region, language, creator tier, traffic source, device, title length, weekend hashtag boost.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480560" y="1389888"/>
            <a:ext cx="1938528" cy="3108960"/>
          </a:xfrm>
          <a:prstGeom prst="roundRect">
            <a:avLst>
              <a:gd name="adj" fmla="val 5660"/>
            </a:avLst>
          </a:prstGeom>
          <a:solidFill>
            <a:srgbClr val="272742"/>
          </a:solidFill>
          <a:ln w="9525">
            <a:solidFill>
              <a:srgbClr val="5858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45152" y="1572768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4645152" y="2103120"/>
            <a:ext cx="1664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D4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 trajectory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645152" y="2651760"/>
            <a:ext cx="168249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Predict trajectory and the result appears on the right side of the screen.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583680" y="1389888"/>
            <a:ext cx="1938528" cy="3108960"/>
          </a:xfrm>
          <a:prstGeom prst="roundRect">
            <a:avLst>
              <a:gd name="adj" fmla="val 5660"/>
            </a:avLst>
          </a:prstGeom>
          <a:solidFill>
            <a:srgbClr val="272742"/>
          </a:solidFill>
          <a:ln w="19050">
            <a:solidFill>
              <a:srgbClr val="9370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48272" y="1572768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748272" y="2103120"/>
            <a:ext cx="1664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D4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 the output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748272" y="2651760"/>
            <a:ext cx="168249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Predicted class, confidence score, and probability breakdown across all four trend types.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4320" y="4572000"/>
            <a:ext cx="8595360" cy="347472"/>
          </a:xfrm>
          <a:prstGeom prst="roundRect">
            <a:avLst>
              <a:gd name="adj" fmla="val 31579"/>
            </a:avLst>
          </a:prstGeom>
          <a:solidFill>
            <a:srgbClr val="272742"/>
          </a:solidFill>
          <a:ln w="9525">
            <a:solidFill>
              <a:srgbClr val="5858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" y="4572000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0C3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algn="ctr" indent="0" marL="0">
              <a:buNone/>
            </a:pPr>
            <a:r>
              <a:rPr lang="en-US" sz="1300" dirty="0">
                <a:solidFill>
                  <a:srgbClr val="D4D4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 </a:t>
            </a:r>
            <a:pPr algn="ctr" indent="0" marL="0">
              <a:buNone/>
            </a:pPr>
            <a:r>
              <a:rPr lang="en-US" sz="1300" dirty="0">
                <a:solidFill>
                  <a:srgbClr val="50C3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jaywebmart-trendcaster.hf.space</a:t>
            </a:r>
            <a:pPr algn="ctr" indent="0" marL="0">
              <a:buNone/>
            </a:pPr>
            <a:r>
              <a:rPr lang="en-US" sz="1300" dirty="0">
                <a:solidFill>
                  <a:srgbClr val="888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→   New prediction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0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48508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848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BUILD_THE_FUTURE.py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943600" y="485089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848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TrendCaster  //  04 /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6B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trend_labels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the four classes mean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274320" y="1298448"/>
            <a:ext cx="2011680" cy="3291840"/>
          </a:xfrm>
          <a:prstGeom prst="roundRect">
            <a:avLst>
              <a:gd name="adj" fmla="val 5455"/>
            </a:avLst>
          </a:prstGeom>
          <a:solidFill>
            <a:srgbClr val="272742"/>
          </a:solidFill>
          <a:ln w="9525">
            <a:solidFill>
              <a:srgbClr val="5858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8912" y="1444752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8D4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rising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38912" y="1901952"/>
            <a:ext cx="1572768" cy="18288"/>
          </a:xfrm>
          <a:prstGeom prst="rect">
            <a:avLst/>
          </a:prstGeom>
          <a:solidFill>
            <a:srgbClr val="585880"/>
          </a:solidFill>
          <a:ln w="12700">
            <a:solidFill>
              <a:srgbClr val="5858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" y="2011680"/>
            <a:ext cx="166420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D4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Gaining traction. Views growing over time. The video is finding its audience.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450592" y="1298448"/>
            <a:ext cx="2011680" cy="3291840"/>
          </a:xfrm>
          <a:prstGeom prst="roundRect">
            <a:avLst>
              <a:gd name="adj" fmla="val 5455"/>
            </a:avLst>
          </a:prstGeom>
          <a:solidFill>
            <a:srgbClr val="272742"/>
          </a:solidFill>
          <a:ln w="9525">
            <a:solidFill>
              <a:srgbClr val="5858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15184" y="1444752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4D4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stable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615184" y="1901952"/>
            <a:ext cx="1572768" cy="18288"/>
          </a:xfrm>
          <a:prstGeom prst="rect">
            <a:avLst/>
          </a:prstGeom>
          <a:solidFill>
            <a:srgbClr val="585880"/>
          </a:solidFill>
          <a:ln w="12700">
            <a:solidFill>
              <a:srgbClr val="5858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15184" y="2011680"/>
            <a:ext cx="166420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D4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Steady performance. Neither growing nor shrinking. The most common class in the dataset (55%).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26864" y="1298448"/>
            <a:ext cx="2011680" cy="3291840"/>
          </a:xfrm>
          <a:prstGeom prst="roundRect">
            <a:avLst>
              <a:gd name="adj" fmla="val 5455"/>
            </a:avLst>
          </a:prstGeom>
          <a:solidFill>
            <a:srgbClr val="272742"/>
          </a:solidFill>
          <a:ln w="9525">
            <a:solidFill>
              <a:srgbClr val="5858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91456" y="1444752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8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declining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791456" y="1901952"/>
            <a:ext cx="1572768" cy="18288"/>
          </a:xfrm>
          <a:prstGeom prst="rect">
            <a:avLst/>
          </a:prstGeom>
          <a:solidFill>
            <a:srgbClr val="585880"/>
          </a:solidFill>
          <a:ln w="12700">
            <a:solidFill>
              <a:srgbClr val="5858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91456" y="2011680"/>
            <a:ext cx="166420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D4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Losing momentum after an initial peak. Traffic is cooling off.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803136" y="1298448"/>
            <a:ext cx="2011680" cy="3291840"/>
          </a:xfrm>
          <a:prstGeom prst="roundRect">
            <a:avLst>
              <a:gd name="adj" fmla="val 5455"/>
            </a:avLst>
          </a:prstGeom>
          <a:solidFill>
            <a:srgbClr val="272742"/>
          </a:solidFill>
          <a:ln w="9525">
            <a:solidFill>
              <a:srgbClr val="5858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67728" y="1444752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0C3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seasonal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967728" y="1901952"/>
            <a:ext cx="1572768" cy="18288"/>
          </a:xfrm>
          <a:prstGeom prst="rect">
            <a:avLst/>
          </a:prstGeom>
          <a:solidFill>
            <a:srgbClr val="585880"/>
          </a:solidFill>
          <a:ln w="12700">
            <a:solidFill>
              <a:srgbClr val="5858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67728" y="2011680"/>
            <a:ext cx="166420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D4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Tied to a recurring event. Spikes during Ramadan, holidays, back-to-school, then drops.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0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48508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848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BUILD_THE_FUTURE.py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943600" y="485089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848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TrendCaster  //  05 /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6B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model_performance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good is it, honestly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274320" y="1280160"/>
            <a:ext cx="2697480" cy="1417320"/>
          </a:xfrm>
          <a:prstGeom prst="roundRect">
            <a:avLst>
              <a:gd name="adj" fmla="val 7742"/>
            </a:avLst>
          </a:prstGeom>
          <a:solidFill>
            <a:srgbClr val="272742"/>
          </a:solidFill>
          <a:ln w="9525">
            <a:solidFill>
              <a:srgbClr val="5858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38988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4D4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57.1%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457200" y="202996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88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accuracy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to beat: 55.4%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182112" y="1280160"/>
            <a:ext cx="2697480" cy="1417320"/>
          </a:xfrm>
          <a:prstGeom prst="roundRect">
            <a:avLst>
              <a:gd name="adj" fmla="val 7742"/>
            </a:avLst>
          </a:prstGeom>
          <a:solidFill>
            <a:srgbClr val="272742"/>
          </a:solidFill>
          <a:ln w="19050">
            <a:solidFill>
              <a:srgbClr val="9370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64992" y="138988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0.455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364992" y="202996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88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 F1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64992" y="22860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metric for imbalanced data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89904" y="1280160"/>
            <a:ext cx="2697480" cy="1417320"/>
          </a:xfrm>
          <a:prstGeom prst="roundRect">
            <a:avLst>
              <a:gd name="adj" fmla="val 7742"/>
            </a:avLst>
          </a:prstGeom>
          <a:solidFill>
            <a:srgbClr val="272742"/>
          </a:solidFill>
          <a:ln w="9525">
            <a:solidFill>
              <a:srgbClr val="5858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2784" y="138988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4D4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8.1s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6272784" y="202996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88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time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72784" y="22860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XGBoost on 88,628 rows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2926080"/>
            <a:ext cx="4160520" cy="1920240"/>
          </a:xfrm>
          <a:prstGeom prst="roundRect">
            <a:avLst>
              <a:gd name="adj" fmla="val 5714"/>
            </a:avLst>
          </a:prstGeom>
          <a:solidFill>
            <a:srgbClr val="272742"/>
          </a:solidFill>
          <a:ln w="9525">
            <a:solidFill>
              <a:srgbClr val="5858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03580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strongest_signal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32918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8D4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weekend_hashtag_boost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3675888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D4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Drives 27% of the model's decisions. The combination of weekend timing and a popular hashtag is by far the strongest pre-posting signal we have.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709160" y="2926080"/>
            <a:ext cx="4160520" cy="1920240"/>
          </a:xfrm>
          <a:prstGeom prst="roundRect">
            <a:avLst>
              <a:gd name="adj" fmla="val 5714"/>
            </a:avLst>
          </a:prstGeom>
          <a:solidFill>
            <a:srgbClr val="272742"/>
          </a:solidFill>
          <a:ln w="9525">
            <a:solidFill>
              <a:srgbClr val="5858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92040" y="303580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weakest_spot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92040" y="32918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8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"declining" class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892040" y="3675888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D4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features available before posting do not separate declining from stable reliably. This is a data limitation, not a bug.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0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48508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848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BUILD_THE_FUTURE.py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943600" y="485089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848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TrendCaster  //  06 /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6B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data_leakage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we excluded engagement features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298448"/>
            <a:ext cx="4160520" cy="3246120"/>
          </a:xfrm>
          <a:prstGeom prst="roundRect">
            <a:avLst>
              <a:gd name="adj" fmla="val 3380"/>
            </a:avLst>
          </a:prstGeom>
          <a:solidFill>
            <a:srgbClr val="272742"/>
          </a:solidFill>
          <a:ln w="9525">
            <a:solidFill>
              <a:srgbClr val="5858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173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8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excluded  (leaky)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79222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8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like_rate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0848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8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share_rate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23774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8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comment_rate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267004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8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engagement_velocity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296265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8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views_per_day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25526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8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completion_rate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354787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8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rel_combo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709160" y="1298448"/>
            <a:ext cx="4160520" cy="3246120"/>
          </a:xfrm>
          <a:prstGeom prst="roundRect">
            <a:avLst>
              <a:gd name="adj" fmla="val 3380"/>
            </a:avLst>
          </a:prstGeom>
          <a:solidFill>
            <a:srgbClr val="272742"/>
          </a:solidFill>
          <a:ln w="19050">
            <a:solidFill>
              <a:srgbClr val="9370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92040" y="14173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8D4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kept  (clean)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92040" y="179222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8D4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platform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92040" y="20848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8D4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region + language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92040" y="23774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8D4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92040" y="267004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8D4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creator_tier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892040" y="296265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8D4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traffic_source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92040" y="325526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8D4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device_brand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92040" y="354787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8D4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title_len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92040" y="384048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8D4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weekend_hashtag_boost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74320" y="4617720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Rule: </a:t>
            </a:r>
            <a:pPr algn="l" indent="0" marL="0">
              <a:buNone/>
            </a:pPr>
            <a:r>
              <a:rPr lang="en-US" sz="1250" dirty="0">
                <a:solidFill>
                  <a:srgbClr val="D4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creator cannot know it before pressing post, the model cannot use it. Engagement features only exist after the video is live. Using them to predict trend label would be circular: the model would be peeking at the answer.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0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48508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848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BUILD_THE_FUTURE.py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943600" y="485089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848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TrendCaster  //  07 / 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6B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model_selection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 models, one winner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274320" y="1280160"/>
            <a:ext cx="2697480" cy="3520440"/>
          </a:xfrm>
          <a:prstGeom prst="roundRect">
            <a:avLst>
              <a:gd name="adj" fmla="val 4068"/>
            </a:avLst>
          </a:prstGeom>
          <a:solidFill>
            <a:srgbClr val="272742"/>
          </a:solidFill>
          <a:ln w="9525">
            <a:solidFill>
              <a:srgbClr val="5858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38988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88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Logistic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888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Regression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15798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23591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4D4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63.7%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57200" y="278892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 F1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299008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4D4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0.428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57200" y="3456432"/>
            <a:ext cx="23957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88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predicted "declining" once. Gamed the class imbalance by defaulting to stable.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182112" y="1280160"/>
            <a:ext cx="2697480" cy="3520440"/>
          </a:xfrm>
          <a:prstGeom prst="roundRect">
            <a:avLst>
              <a:gd name="adj" fmla="val 4068"/>
            </a:avLst>
          </a:prstGeom>
          <a:solidFill>
            <a:srgbClr val="272742"/>
          </a:solidFill>
          <a:ln w="9525">
            <a:solidFill>
              <a:srgbClr val="5858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4992" y="138988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88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Random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888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Forest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3364992" y="215798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64992" y="23591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4D4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50.3%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364992" y="278892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 F1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364992" y="299008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4D4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0.431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3364992" y="3456432"/>
            <a:ext cx="23957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88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balanced predictions but lower overall accuracy. Caught some declining cases.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89904" y="1280160"/>
            <a:ext cx="2697480" cy="3520440"/>
          </a:xfrm>
          <a:prstGeom prst="roundRect">
            <a:avLst>
              <a:gd name="adj" fmla="val 4068"/>
            </a:avLst>
          </a:prstGeom>
          <a:solidFill>
            <a:srgbClr val="272742"/>
          </a:solidFill>
          <a:ln w="19050">
            <a:solidFill>
              <a:srgbClr val="9370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72784" y="138988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XGBoost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272784" y="215798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272784" y="23591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57.1%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6272784" y="278892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 F1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72784" y="299008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0.455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6272784" y="3456432"/>
            <a:ext cx="23957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D4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macro F1. Predicts all four classes meaningfully. Fast at 8.1s. Deployed.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0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91440"/>
            <a:ext cx="8686800" cy="384048"/>
          </a:xfrm>
          <a:prstGeom prst="rect">
            <a:avLst/>
          </a:prstGeom>
          <a:solidFill>
            <a:srgbClr val="161626"/>
          </a:solidFill>
          <a:ln w="12700">
            <a:solidFill>
              <a:srgbClr val="16162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84048" y="192024"/>
            <a:ext cx="118872" cy="11887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92024"/>
            <a:ext cx="118872" cy="118872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92024"/>
            <a:ext cx="118872" cy="11887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0" y="109728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~/demo.py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48508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848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BUILD_THE_FUTURE.py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943600" y="485089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848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TrendCaster  //  08 / 08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65760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B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try it now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9875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it live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365760" y="18745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─────────────────────────────────────────────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226771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4D4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buNone/>
            </a:pPr>
            <a:r>
              <a:rPr lang="en-US" sz="1800" dirty="0">
                <a:solidFill>
                  <a:srgbClr val="888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</a:t>
            </a:r>
            <a:pPr indent="0" marL="0">
              <a:buNone/>
            </a:pPr>
            <a:r>
              <a:rPr lang="en-US" sz="1800" dirty="0">
                <a:solidFill>
                  <a:srgbClr val="98D4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"https://jaywebmart-trendcaster.hf.space"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65760" y="272491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0C3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</a:t>
            </a:r>
            <a:pPr indent="0" marL="0">
              <a:buNone/>
            </a:pPr>
            <a:r>
              <a:rPr lang="en-US" sz="1800" dirty="0">
                <a:solidFill>
                  <a:srgbClr val="D4D4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webbrowser.open(url)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65760" y="3273552"/>
            <a:ext cx="8412480" cy="1444752"/>
          </a:xfrm>
          <a:prstGeom prst="roundRect">
            <a:avLst>
              <a:gd name="adj" fmla="val 7595"/>
            </a:avLst>
          </a:prstGeom>
          <a:solidFill>
            <a:srgbClr val="272742"/>
          </a:solidFill>
          <a:ln w="19050">
            <a:solidFill>
              <a:srgbClr val="9370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3364992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suggested test inputs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94360" y="36576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TikTok + Sports + Macro creator + weekend boost  →  </a:t>
            </a:r>
            <a:pPr algn="ctr" indent="0" marL="0">
              <a:buNone/>
            </a:pPr>
            <a:r>
              <a:rPr lang="en-US" sz="1200" b="1" dirty="0">
                <a:solidFill>
                  <a:srgbClr val="98D4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406908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YouTube + News + Micro creator + no boost  →  </a:t>
            </a:r>
            <a:pPr algn="ctr" indent="0" marL="0">
              <a:buNone/>
            </a:pPr>
            <a:r>
              <a:rPr lang="en-US" sz="1200" b="1" dirty="0">
                <a:solidFill>
                  <a:srgbClr val="D4D4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stable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0" y="464058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848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CREED  //  Fountain of Love RCCG  //  Aberdeen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TrendCaster</dc:title>
  <dc:subject>PptxGenJS Presentation</dc:subject>
  <dc:creator>PptxGenJS</dc:creator>
  <cp:lastModifiedBy>PptxGenJS</cp:lastModifiedBy>
  <cp:revision>1</cp:revision>
  <dcterms:created xsi:type="dcterms:W3CDTF">2026-06-19T15:05:11Z</dcterms:created>
  <dcterms:modified xsi:type="dcterms:W3CDTF">2026-06-19T15:05:11Z</dcterms:modified>
</cp:coreProperties>
</file>