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7"/>
    <p:sldId id="280" r:id="rId28"/>
    <p:sldId id="281" r:id="rId25"/>
    <p:sldId id="282" r:id="rId26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36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38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H0" Type="http://schemas.openxmlformats.org/officeDocument/2006/relationships/image" Target="../media/imageH0.png"/><Relationship Id="rIdH1" Type="http://schemas.openxmlformats.org/officeDocument/2006/relationships/image" Target="../media/imageH1.png"/><Relationship Id="rIdH2" Type="http://schemas.openxmlformats.org/officeDocument/2006/relationships/image" Target="../media/imageH2.png"/><Relationship Id="rIdH3" Type="http://schemas.openxmlformats.org/officeDocument/2006/relationships/image" Target="../media/imageH3.png"/><Relationship Id="rIdH4" Type="http://schemas.openxmlformats.org/officeDocument/2006/relationships/image" Target="../media/imageH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rmBar"/>
          <p:cNvSpPr/>
          <p:nvPr/>
        </p:nvSpPr>
        <p:spPr>
          <a:xfrm>
            <a:off x="914400" y="731520"/>
            <a:ext cx="10363200" cy="365760"/>
          </a:xfrm>
          <a:prstGeom prst="roundRect">
            <a:avLst>
              <a:gd name="adj" fmla="val 25000"/>
            </a:avLst>
          </a:prstGeom>
          <a:solidFill>
            <a:srgbClr val="11111B"/>
          </a:solidFill>
          <a:ln w="9525">
            <a:solidFill>
              <a:srgbClr val="313244"/>
            </a:solidFill>
          </a:ln>
        </p:spPr>
        <p:txBody>
          <a:bodyPr lIns="182880" tIns="0" rIns="0" bIns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8BA8"/>
                </a:solidFill>
                <a:latin typeface="Consolas"/>
              </a:rPr>
              <a:t>● </a:t>
            </a:r>
            <a:r>
              <a:rPr lang="en-US" sz="1100" dirty="0">
                <a:solidFill>
                  <a:srgbClr val="F9E2AF"/>
                </a:solidFill>
                <a:latin typeface="Consolas"/>
              </a:rPr>
              <a:t>● </a:t>
            </a:r>
            <a:r>
              <a:rPr lang="en-US" sz="1100" dirty="0">
                <a:solidFill>
                  <a:srgbClr val="A6E3A1"/>
                </a:solidFill>
                <a:latin typeface="Consolas"/>
              </a:rPr>
              <a:t>●</a:t>
            </a:r>
            <a:r>
              <a:rPr lang="en-US" sz="1100" dirty="0">
                <a:solidFill>
                  <a:srgbClr val="6C7086"/>
                </a:solidFill>
                <a:latin typeface="Consolas"/>
              </a:rPr>
              <a:t>      ~/build_the_future.py</a:t>
            </a:r>
          </a:p>
        </p:txBody>
      </p:sp>
      <p:sp>
        <p:nvSpPr>
          <p:cNvPr id="11" name="Mission"/>
          <p:cNvSpPr/>
          <p:nvPr/>
        </p:nvSpPr>
        <p:spPr>
          <a:xfrm>
            <a:off x="914400" y="1600200"/>
            <a:ext cx="103632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/>
              </a:rPr>
              <a:t># mission</a:t>
            </a:r>
          </a:p>
        </p:txBody>
      </p:sp>
      <p:sp>
        <p:nvSpPr>
          <p:cNvPr id="12" name="Title"/>
          <p:cNvSpPr/>
          <p:nvPr/>
        </p:nvSpPr>
        <p:spPr>
          <a:xfrm>
            <a:off x="914400" y="2011680"/>
            <a:ext cx="10363200" cy="11887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BUILD THE FUTURE</a:t>
            </a:r>
          </a:p>
        </p:txBody>
      </p:sp>
      <p:sp>
        <p:nvSpPr>
          <p:cNvPr id="13" name="Subtitle"/>
          <p:cNvSpPr/>
          <p:nvPr/>
        </p:nvSpPr>
        <p:spPr>
          <a:xfrm>
            <a:off x="914400" y="3383280"/>
            <a:ext cx="103632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D6F4"/>
                </a:solidFill>
                <a:latin typeface="Consolas"/>
              </a:rPr>
              <a:t>subtitle = </a:t>
            </a:r>
            <a:r>
              <a:rPr lang="en-US" sz="1600" dirty="0">
                <a:solidFill>
                  <a:srgbClr val="A6E3A1"/>
                </a:solidFill>
                <a:latin typeface="Consolas"/>
              </a:rPr>
              <a:t>"Machine Learning Bootcamp for Teenagers"</a:t>
            </a:r>
          </a:p>
        </p:txBody>
      </p:sp>
      <p:sp>
        <p:nvSpPr>
          <p:cNvPr id="14" name="When"/>
          <p:cNvSpPr/>
          <p:nvPr/>
        </p:nvSpPr>
        <p:spPr>
          <a:xfrm>
            <a:off x="914400" y="3931920"/>
            <a:ext cx="103632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D6F4"/>
                </a:solidFill>
                <a:latin typeface="Consolas"/>
              </a:rPr>
              <a:t>when     = </a:t>
            </a:r>
            <a:r>
              <a:rPr lang="en-US" sz="1600" dirty="0">
                <a:solidFill>
                  <a:srgbClr val="F9E2AF"/>
                </a:solidFill>
                <a:latin typeface="Consolas"/>
              </a:rPr>
              <a:t>"Mon 13 - Fri 17 July  //  10:00 - 14:00"</a:t>
            </a:r>
          </a:p>
        </p:txBody>
      </p:sp>
      <p:sp>
        <p:nvSpPr>
          <p:cNvPr id="15" name="Where"/>
          <p:cNvSpPr/>
          <p:nvPr/>
        </p:nvSpPr>
        <p:spPr>
          <a:xfrm>
            <a:off x="914400" y="4480560"/>
            <a:ext cx="103632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DD6F4"/>
                </a:solidFill>
                <a:latin typeface="Consolas"/>
              </a:rPr>
              <a:t>where    = </a:t>
            </a:r>
            <a:r>
              <a:rPr lang="en-US" sz="1600" dirty="0">
                <a:solidFill>
                  <a:srgbClr val="FAB387"/>
                </a:solidFill>
                <a:latin typeface="Consolas"/>
              </a:rPr>
              <a:t>"The Centre, Aberdeen"</a:t>
            </a:r>
          </a:p>
        </p:txBody>
      </p:sp>
      <p:sp>
        <p:nvSpPr>
          <p:cNvPr id="16" name="Start"/>
          <p:cNvSpPr/>
          <p:nvPr/>
        </p:nvSpPr>
        <p:spPr>
          <a:xfrm>
            <a:off x="914400" y="5120640"/>
            <a:ext cx="103632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9B4FA"/>
                </a:solidFill>
                <a:latin typeface="Consolas"/>
              </a:rPr>
              <a:t>&gt;&gt;&gt; bootcamp.start()</a:t>
            </a:r>
          </a:p>
        </p:txBody>
      </p:sp>
      <p:sp>
        <p:nvSpPr>
          <p:cNvPr id="17" name="Orgs"/>
          <p:cNvSpPr/>
          <p:nvPr/>
        </p:nvSpPr>
        <p:spPr>
          <a:xfrm>
            <a:off x="914400" y="6217920"/>
            <a:ext cx="103632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086"/>
                </a:solidFill>
                <a:latin typeface="Consolas"/>
              </a:rPr>
              <a:t>CREED  //  Fountain of Love RCCG  //  Aberdeen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1612880" cy="365760"/>
          </a:xfrm>
          <a:prstGeom prst="rect">
            <a:avLst/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84632"/>
            <a:ext cx="128016" cy="128016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8463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8463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114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~/day_01_welcome.py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─────────────────────────────────────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kern="0" spc="2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─────────────────────────────────────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</a:t>
            </a:r>
            <a:r>
              <a:rPr lang="en-US" sz="2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"Machine Learning Bootcamp for Teenagers"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</a:t>
            </a:r>
            <a:r>
              <a:rPr lang="en-US" sz="2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"01: Welcome, ML &amp; Data"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</a:t>
            </a: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bootcamp.start()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CREED  //  Fountain of Love RCCG  //  Aberdeen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welcome.py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the bootcamp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77440" y="2103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2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"You're in the right place."</a:t>
            </a:r>
            <a:r>
              <a:rPr lang="en-US" sz="26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377440" y="27889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next five days you'll go from machine learning curious to building your own model from scratch. No prior coding experience needed.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377440" y="4572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313244"/>
          </a:solidFill>
          <a:ln w="19050">
            <a:solidFill>
              <a:srgbClr val="CBA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Hands-on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0" y="4572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313244"/>
          </a:solidFill>
          <a:ln w="19050">
            <a:solidFill>
              <a:srgbClr val="A6E3A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 code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0" y="45720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313244"/>
          </a:solidFill>
          <a:ln w="19050">
            <a:solidFill>
              <a:srgbClr val="FAB38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 models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02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whoami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whoami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181825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Oluwaseun  //  hydrogeologist, builder, learner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9806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455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about.txt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93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PhD in hydrogeology from University of Aberdeen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at Startup Grind Aberdeen + CREED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879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of ML tools (HydroAgent, LSTM forecasters)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3542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88289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$WHY_IM_HERE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2303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"Because the future gets built by people who start now."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03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why_we_built_this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bootcamp exists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is shaping the next decade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965960" y="2514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medicine to music, the people writing the rules now are mostly adults. We think you should be in that room.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38328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3566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don't need to wait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965960" y="4023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 let you train models on a laptop. The barrier isn't talent or money. It's exposure.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89204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6636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6596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Aberdeen, built for you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965960" y="5532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industry runs on AI: subsea, energy, robotics. The skills you pick up here open real doors here.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04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/>
              </a:rPr>
              <a:t># lightning_talks</a:t>
            </a:r>
          </a:p>
        </p:txBody>
      </p:sp>
      <p:sp>
        <p:nvSpPr>
          <p:cNvPr id="3" name="Heading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BA6F7"/>
                </a:solidFill>
                <a:latin typeface="Consolas"/>
                <a:ea typeface="Consolas"/>
                <a:cs typeface="Consolas"/>
              </a:rPr>
              <a:t>This week's lightning talk speakers</a:t>
            </a:r>
          </a:p>
        </p:txBody>
      </p:sp>
      <p:pic>
        <p:nvPicPr>
          <p:cNvPr id="20" name="Speaker 0"/>
          <p:cNvPicPr/>
          <p:nvPr/>
        </p:nvPicPr>
        <p:blipFill>
          <a:blip r:embed="rIdH0"/>
          <a:stretch>
            <a:fillRect/>
          </a:stretch>
        </p:blipFill>
        <p:spPr>
          <a:xfrm>
            <a:off x="831880" y="2377440"/>
            <a:ext cx="1750000" cy="1750000"/>
          </a:xfrm>
          <a:prstGeom prst="ellipse">
            <a:avLst/>
          </a:prstGeom>
          <a:ln w="38100">
            <a:solidFill>
              <a:srgbClr val="CBA6F7"/>
            </a:solidFill>
          </a:ln>
        </p:spPr>
      </p:pic>
      <p:sp>
        <p:nvSpPr>
          <p:cNvPr id="21" name="Name 0"/>
          <p:cNvSpPr/>
          <p:nvPr/>
        </p:nvSpPr>
        <p:spPr>
          <a:xfrm>
            <a:off x="656880" y="4264600"/>
            <a:ext cx="21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DD6F4"/>
                </a:solidFill>
                <a:latin typeface="Consolas"/>
                <a:ea typeface="Consolas"/>
                <a:cs typeface="Consolas"/>
              </a:rPr>
              <a:t>Regina Ofori-Boateng</a:t>
            </a:r>
          </a:p>
        </p:txBody>
      </p:sp>
      <p:sp>
        <p:nvSpPr>
          <p:cNvPr id="22" name="Org 0"/>
          <p:cNvSpPr/>
          <p:nvPr/>
        </p:nvSpPr>
        <p:spPr>
          <a:xfrm>
            <a:off x="656880" y="47646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A6F7"/>
                </a:solidFill>
                <a:latin typeface="Consolas"/>
              </a:rPr>
              <a:t>KPMG</a:t>
            </a:r>
          </a:p>
        </p:txBody>
      </p:sp>
      <p:pic>
        <p:nvPicPr>
          <p:cNvPr id="23" name="Speaker 1"/>
          <p:cNvPicPr/>
          <p:nvPr/>
        </p:nvPicPr>
        <p:blipFill>
          <a:blip r:embed="rIdH1"/>
          <a:stretch>
            <a:fillRect/>
          </a:stretch>
        </p:blipFill>
        <p:spPr>
          <a:xfrm>
            <a:off x="3026440" y="2377440"/>
            <a:ext cx="1750000" cy="1750000"/>
          </a:xfrm>
          <a:prstGeom prst="ellipse">
            <a:avLst/>
          </a:prstGeom>
          <a:ln w="38100">
            <a:solidFill>
              <a:srgbClr val="89B4FA"/>
            </a:solidFill>
          </a:ln>
        </p:spPr>
      </p:pic>
      <p:sp>
        <p:nvSpPr>
          <p:cNvPr id="24" name="Name 1"/>
          <p:cNvSpPr/>
          <p:nvPr/>
        </p:nvSpPr>
        <p:spPr>
          <a:xfrm>
            <a:off x="2851440" y="4264600"/>
            <a:ext cx="21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DD6F4"/>
                </a:solidFill>
                <a:latin typeface="Consolas"/>
                <a:ea typeface="Consolas"/>
                <a:cs typeface="Consolas"/>
              </a:rPr>
              <a:t>Antony Kaguara</a:t>
            </a:r>
          </a:p>
        </p:txBody>
      </p:sp>
      <p:sp>
        <p:nvSpPr>
          <p:cNvPr id="25" name="Org 1"/>
          <p:cNvSpPr/>
          <p:nvPr/>
        </p:nvSpPr>
        <p:spPr>
          <a:xfrm>
            <a:off x="2851440" y="47646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9B4FA"/>
                </a:solidFill>
                <a:latin typeface="Consolas"/>
              </a:rPr>
              <a:t>Ex Google</a:t>
            </a:r>
          </a:p>
        </p:txBody>
      </p:sp>
      <p:pic>
        <p:nvPicPr>
          <p:cNvPr id="26" name="Speaker 2"/>
          <p:cNvPicPr/>
          <p:nvPr/>
        </p:nvPicPr>
        <p:blipFill>
          <a:blip r:embed="rIdH2"/>
          <a:stretch>
            <a:fillRect/>
          </a:stretch>
        </p:blipFill>
        <p:spPr>
          <a:xfrm>
            <a:off x="5221000" y="2377440"/>
            <a:ext cx="1750000" cy="1750000"/>
          </a:xfrm>
          <a:prstGeom prst="ellipse">
            <a:avLst/>
          </a:prstGeom>
          <a:ln w="38100">
            <a:solidFill>
              <a:srgbClr val="A6E3A1"/>
            </a:solidFill>
          </a:ln>
        </p:spPr>
      </p:pic>
      <p:sp>
        <p:nvSpPr>
          <p:cNvPr id="27" name="Name 2"/>
          <p:cNvSpPr/>
          <p:nvPr/>
        </p:nvSpPr>
        <p:spPr>
          <a:xfrm>
            <a:off x="5046000" y="4264600"/>
            <a:ext cx="21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DD6F4"/>
                </a:solidFill>
                <a:latin typeface="Consolas"/>
                <a:ea typeface="Consolas"/>
                <a:cs typeface="Consolas"/>
              </a:rPr>
              <a:t>Ola Akanni</a:t>
            </a:r>
          </a:p>
        </p:txBody>
      </p:sp>
      <p:sp>
        <p:nvSpPr>
          <p:cNvPr id="28" name="Org 2"/>
          <p:cNvSpPr/>
          <p:nvPr/>
        </p:nvSpPr>
        <p:spPr>
          <a:xfrm>
            <a:off x="5046000" y="47646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E3A1"/>
                </a:solidFill>
                <a:latin typeface="Consolas"/>
              </a:rPr>
              <a:t>FanDuel</a:t>
            </a:r>
          </a:p>
        </p:txBody>
      </p:sp>
      <p:pic>
        <p:nvPicPr>
          <p:cNvPr id="29" name="Speaker 3"/>
          <p:cNvPicPr/>
          <p:nvPr/>
        </p:nvPicPr>
        <p:blipFill>
          <a:blip r:embed="rIdH3"/>
          <a:stretch>
            <a:fillRect/>
          </a:stretch>
        </p:blipFill>
        <p:spPr>
          <a:xfrm>
            <a:off x="7415560" y="2377440"/>
            <a:ext cx="1750000" cy="1750000"/>
          </a:xfrm>
          <a:prstGeom prst="ellipse">
            <a:avLst/>
          </a:prstGeom>
          <a:ln w="38100">
            <a:solidFill>
              <a:srgbClr val="FAB387"/>
            </a:solidFill>
          </a:ln>
        </p:spPr>
      </p:pic>
      <p:sp>
        <p:nvSpPr>
          <p:cNvPr id="30" name="Name 3"/>
          <p:cNvSpPr/>
          <p:nvPr/>
        </p:nvSpPr>
        <p:spPr>
          <a:xfrm>
            <a:off x="7240560" y="4264600"/>
            <a:ext cx="21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DD6F4"/>
                </a:solidFill>
                <a:latin typeface="Consolas"/>
                <a:ea typeface="Consolas"/>
                <a:cs typeface="Consolas"/>
              </a:rPr>
              <a:t>Olumide Okubadejo</a:t>
            </a:r>
          </a:p>
        </p:txBody>
      </p:sp>
      <p:sp>
        <p:nvSpPr>
          <p:cNvPr id="31" name="Org 3"/>
          <p:cNvSpPr/>
          <p:nvPr/>
        </p:nvSpPr>
        <p:spPr>
          <a:xfrm>
            <a:off x="7240560" y="47646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B387"/>
                </a:solidFill>
                <a:latin typeface="Consolas"/>
              </a:rPr>
              <a:t>Ex Spotify</a:t>
            </a:r>
          </a:p>
        </p:txBody>
      </p:sp>
      <p:pic>
        <p:nvPicPr>
          <p:cNvPr id="32" name="Speaker 4"/>
          <p:cNvPicPr/>
          <p:nvPr/>
        </p:nvPicPr>
        <p:blipFill>
          <a:blip r:embed="rIdH4"/>
          <a:stretch>
            <a:fillRect/>
          </a:stretch>
        </p:blipFill>
        <p:spPr>
          <a:xfrm>
            <a:off x="9610120" y="2377440"/>
            <a:ext cx="1750000" cy="1750000"/>
          </a:xfrm>
          <a:prstGeom prst="ellipse">
            <a:avLst/>
          </a:prstGeom>
          <a:ln w="38100">
            <a:solidFill>
              <a:srgbClr val="F38BA8"/>
            </a:solidFill>
          </a:ln>
        </p:spPr>
      </p:pic>
      <p:sp>
        <p:nvSpPr>
          <p:cNvPr id="33" name="Name 4"/>
          <p:cNvSpPr/>
          <p:nvPr/>
        </p:nvSpPr>
        <p:spPr>
          <a:xfrm>
            <a:off x="9435120" y="4264600"/>
            <a:ext cx="2100000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DD6F4"/>
                </a:solidFill>
                <a:latin typeface="Consolas"/>
                <a:ea typeface="Consolas"/>
                <a:cs typeface="Consolas"/>
              </a:rPr>
              <a:t>Tobi Kasali</a:t>
            </a:r>
          </a:p>
        </p:txBody>
      </p:sp>
      <p:sp>
        <p:nvSpPr>
          <p:cNvPr id="34" name="Org 4"/>
          <p:cNvSpPr/>
          <p:nvPr/>
        </p:nvSpPr>
        <p:spPr>
          <a:xfrm>
            <a:off x="9435120" y="4764600"/>
            <a:ext cx="21000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8BA8"/>
                </a:solidFill>
                <a:latin typeface="Consolas"/>
              </a:rPr>
              <a:t>United Nations</a:t>
            </a:r>
          </a:p>
        </p:txBody>
      </p:sp>
      <p:sp>
        <p:nvSpPr>
          <p:cNvPr id="90" name="FootL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/>
              </a:rPr>
              <a:t>BUILD_THE_FUTURE.py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agenda_day_01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100" name="Chip 0"/>
          <p:cNvSpPr/>
          <p:nvPr/>
        </p:nvSpPr>
        <p:spPr>
          <a:xfrm>
            <a:off x="640080" y="178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sp>
        <p:nvSpPr>
          <p:cNvPr id="101" name="Time 0"/>
          <p:cNvSpPr/>
          <p:nvPr/>
        </p:nvSpPr>
        <p:spPr>
          <a:xfrm>
            <a:off x="640080" y="178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300" dirty="0"/>
          </a:p>
        </p:txBody>
      </p:sp>
      <p:sp>
        <p:nvSpPr>
          <p:cNvPr id="102" name="RowTitle 0"/>
          <p:cNvSpPr/>
          <p:nvPr/>
        </p:nvSpPr>
        <p:spPr>
          <a:xfrm>
            <a:off x="2194560" y="179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&amp; introductions</a:t>
            </a:r>
            <a:endParaRPr lang="en-US" sz="1400" dirty="0"/>
          </a:p>
        </p:txBody>
      </p:sp>
      <p:sp>
        <p:nvSpPr>
          <p:cNvPr id="103" name="RowSub 0"/>
          <p:cNvSpPr/>
          <p:nvPr/>
        </p:nvSpPr>
        <p:spPr>
          <a:xfrm>
            <a:off x="2194560" y="201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the room, how the week works</a:t>
            </a:r>
            <a:endParaRPr lang="en-US" sz="1100" dirty="0"/>
          </a:p>
        </p:txBody>
      </p:sp>
      <p:sp>
        <p:nvSpPr>
          <p:cNvPr id="104" name="Chip 1"/>
          <p:cNvSpPr/>
          <p:nvPr/>
        </p:nvSpPr>
        <p:spPr>
          <a:xfrm>
            <a:off x="640080" y="225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89B4FA"/>
            </a:solidFill>
            <a:prstDash val="solid"/>
          </a:ln>
        </p:spPr>
      </p:sp>
      <p:sp>
        <p:nvSpPr>
          <p:cNvPr id="105" name="Time 1"/>
          <p:cNvSpPr/>
          <p:nvPr/>
        </p:nvSpPr>
        <p:spPr>
          <a:xfrm>
            <a:off x="640080" y="225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300" dirty="0"/>
          </a:p>
        </p:txBody>
      </p:sp>
      <p:sp>
        <p:nvSpPr>
          <p:cNvPr id="106" name="RowTitle 1"/>
          <p:cNvSpPr/>
          <p:nvPr/>
        </p:nvSpPr>
        <p:spPr>
          <a:xfrm>
            <a:off x="2194560" y="226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Lightning talk #1: Olumide Okubadejo</a:t>
            </a:r>
            <a:endParaRPr lang="en-US" sz="1400" dirty="0"/>
          </a:p>
        </p:txBody>
      </p:sp>
      <p:sp>
        <p:nvSpPr>
          <p:cNvPr id="107" name="RowSub 1"/>
          <p:cNvSpPr/>
          <p:nvPr/>
        </p:nvSpPr>
        <p:spPr>
          <a:xfrm>
            <a:off x="2194560" y="248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recommendation systems work at scale, ex-Spotify</a:t>
            </a:r>
            <a:endParaRPr lang="en-US" sz="1100" dirty="0"/>
          </a:p>
        </p:txBody>
      </p:sp>
      <p:sp>
        <p:nvSpPr>
          <p:cNvPr id="108" name="Chip 2"/>
          <p:cNvSpPr/>
          <p:nvPr/>
        </p:nvSpPr>
        <p:spPr>
          <a:xfrm>
            <a:off x="640080" y="272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sp>
        <p:nvSpPr>
          <p:cNvPr id="109" name="Time 2"/>
          <p:cNvSpPr/>
          <p:nvPr/>
        </p:nvSpPr>
        <p:spPr>
          <a:xfrm>
            <a:off x="640080" y="272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10:40</a:t>
            </a:r>
            <a:endParaRPr lang="en-US" sz="1300" dirty="0"/>
          </a:p>
        </p:txBody>
      </p:sp>
      <p:sp>
        <p:nvSpPr>
          <p:cNvPr id="110" name="RowTitle 2"/>
          <p:cNvSpPr/>
          <p:nvPr/>
        </p:nvSpPr>
        <p:spPr>
          <a:xfrm>
            <a:off x="2194560" y="273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Thinking Game + your 2036 essays</a:t>
            </a:r>
            <a:endParaRPr lang="en-US" sz="1400" dirty="0"/>
          </a:p>
        </p:txBody>
      </p:sp>
      <p:sp>
        <p:nvSpPr>
          <p:cNvPr id="111" name="RowSub 2"/>
          <p:cNvSpPr/>
          <p:nvPr/>
        </p:nvSpPr>
        <p:spPr>
          <a:xfrm>
            <a:off x="2194560" y="295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idea, types of ML, where it shows up</a:t>
            </a:r>
            <a:endParaRPr lang="en-US" sz="1100" dirty="0"/>
          </a:p>
        </p:txBody>
      </p:sp>
      <p:sp>
        <p:nvSpPr>
          <p:cNvPr id="112" name="Chip 3"/>
          <p:cNvSpPr/>
          <p:nvPr/>
        </p:nvSpPr>
        <p:spPr>
          <a:xfrm>
            <a:off x="640080" y="319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6C7086"/>
            </a:solidFill>
            <a:prstDash val="solid"/>
          </a:ln>
        </p:spPr>
      </p:sp>
      <p:sp>
        <p:nvSpPr>
          <p:cNvPr id="113" name="Time 3"/>
          <p:cNvSpPr/>
          <p:nvPr/>
        </p:nvSpPr>
        <p:spPr>
          <a:xfrm>
            <a:off x="640080" y="319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11:10</a:t>
            </a:r>
            <a:endParaRPr lang="en-US" sz="1300" dirty="0"/>
          </a:p>
        </p:txBody>
      </p:sp>
      <p:sp>
        <p:nvSpPr>
          <p:cNvPr id="114" name="RowTitle 3"/>
          <p:cNvSpPr/>
          <p:nvPr/>
        </p:nvSpPr>
        <p:spPr>
          <a:xfrm>
            <a:off x="2194560" y="320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machine learning?</a:t>
            </a:r>
            <a:endParaRPr lang="en-US" sz="1400" dirty="0"/>
          </a:p>
        </p:txBody>
      </p:sp>
      <p:sp>
        <p:nvSpPr>
          <p:cNvPr id="115" name="RowSub 3"/>
          <p:cNvSpPr/>
          <p:nvPr/>
        </p:nvSpPr>
        <p:spPr>
          <a:xfrm>
            <a:off x="2194560" y="342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Snacks, questions, breathe</a:t>
            </a:r>
            <a:endParaRPr lang="en-US" sz="1100" dirty="0"/>
          </a:p>
        </p:txBody>
      </p:sp>
      <p:sp>
        <p:nvSpPr>
          <p:cNvPr id="116" name="Chip 4"/>
          <p:cNvSpPr/>
          <p:nvPr/>
        </p:nvSpPr>
        <p:spPr>
          <a:xfrm>
            <a:off x="640080" y="366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sp>
        <p:nvSpPr>
          <p:cNvPr id="117" name="Time 4"/>
          <p:cNvSpPr/>
          <p:nvPr/>
        </p:nvSpPr>
        <p:spPr>
          <a:xfrm>
            <a:off x="640080" y="366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11:50</a:t>
            </a:r>
            <a:endParaRPr lang="en-US" sz="1300" dirty="0"/>
          </a:p>
        </p:txBody>
      </p:sp>
      <p:sp>
        <p:nvSpPr>
          <p:cNvPr id="118" name="RowTitle 4"/>
          <p:cNvSpPr/>
          <p:nvPr/>
        </p:nvSpPr>
        <p:spPr>
          <a:xfrm>
            <a:off x="2194560" y="367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400" dirty="0"/>
          </a:p>
        </p:txBody>
      </p:sp>
      <p:sp>
        <p:nvSpPr>
          <p:cNvPr id="119" name="RowSub 4"/>
          <p:cNvSpPr/>
          <p:nvPr/>
        </p:nvSpPr>
        <p:spPr>
          <a:xfrm>
            <a:off x="2194560" y="389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vs labels, why quality matters</a:t>
            </a:r>
            <a:endParaRPr lang="en-US" sz="1100" dirty="0"/>
          </a:p>
        </p:txBody>
      </p:sp>
      <p:sp>
        <p:nvSpPr>
          <p:cNvPr id="120" name="Chip 5"/>
          <p:cNvSpPr/>
          <p:nvPr/>
        </p:nvSpPr>
        <p:spPr>
          <a:xfrm>
            <a:off x="640080" y="413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F38BA8"/>
            </a:solidFill>
            <a:prstDash val="solid"/>
          </a:ln>
        </p:spPr>
      </p:sp>
      <p:sp>
        <p:nvSpPr>
          <p:cNvPr id="121" name="Time 5"/>
          <p:cNvSpPr/>
          <p:nvPr/>
        </p:nvSpPr>
        <p:spPr>
          <a:xfrm>
            <a:off x="640080" y="413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12:05</a:t>
            </a:r>
            <a:endParaRPr lang="en-US" sz="1300" dirty="0"/>
          </a:p>
        </p:txBody>
      </p:sp>
      <p:sp>
        <p:nvSpPr>
          <p:cNvPr id="122" name="RowTitle 5"/>
          <p:cNvSpPr/>
          <p:nvPr/>
        </p:nvSpPr>
        <p:spPr>
          <a:xfrm>
            <a:off x="2194560" y="414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Data, the fuel of ML</a:t>
            </a:r>
            <a:endParaRPr lang="en-US" sz="1400" dirty="0"/>
          </a:p>
        </p:txBody>
      </p:sp>
      <p:sp>
        <p:nvSpPr>
          <p:cNvPr id="123" name="RowSub 5"/>
          <p:cNvSpPr/>
          <p:nvPr/>
        </p:nvSpPr>
        <p:spPr>
          <a:xfrm>
            <a:off x="2194560" y="436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Machine, in pairs, ~30 minutes</a:t>
            </a:r>
            <a:endParaRPr lang="en-US" sz="1100" dirty="0"/>
          </a:p>
        </p:txBody>
      </p:sp>
      <p:sp>
        <p:nvSpPr>
          <p:cNvPr id="124" name="Chip 6"/>
          <p:cNvSpPr/>
          <p:nvPr/>
        </p:nvSpPr>
        <p:spPr>
          <a:xfrm>
            <a:off x="640080" y="460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6C7086"/>
            </a:solidFill>
            <a:prstDash val="solid"/>
          </a:ln>
        </p:spPr>
      </p:sp>
      <p:sp>
        <p:nvSpPr>
          <p:cNvPr id="125" name="Time 6"/>
          <p:cNvSpPr/>
          <p:nvPr/>
        </p:nvSpPr>
        <p:spPr>
          <a:xfrm>
            <a:off x="640080" y="460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12:35</a:t>
            </a:r>
            <a:endParaRPr lang="en-US" sz="1300" dirty="0"/>
          </a:p>
        </p:txBody>
      </p:sp>
      <p:sp>
        <p:nvSpPr>
          <p:cNvPr id="126" name="RowTitle 6"/>
          <p:cNvSpPr/>
          <p:nvPr/>
        </p:nvSpPr>
        <p:spPr>
          <a:xfrm>
            <a:off x="2194560" y="461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Lunch break</a:t>
            </a:r>
            <a:endParaRPr lang="en-US" sz="1400" dirty="0"/>
          </a:p>
        </p:txBody>
      </p:sp>
      <p:sp>
        <p:nvSpPr>
          <p:cNvPr id="127" name="RowSub 6"/>
          <p:cNvSpPr/>
          <p:nvPr/>
        </p:nvSpPr>
        <p:spPr>
          <a:xfrm>
            <a:off x="2194560" y="483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Eat, recharge, meet each other</a:t>
            </a:r>
            <a:endParaRPr lang="en-US" sz="1100" dirty="0"/>
          </a:p>
        </p:txBody>
      </p:sp>
      <p:sp>
        <p:nvSpPr>
          <p:cNvPr id="128" name="Chip 7"/>
          <p:cNvSpPr/>
          <p:nvPr/>
        </p:nvSpPr>
        <p:spPr>
          <a:xfrm>
            <a:off x="640080" y="507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89B4FA"/>
            </a:solidFill>
            <a:prstDash val="solid"/>
          </a:ln>
        </p:spPr>
      </p:sp>
      <p:sp>
        <p:nvSpPr>
          <p:cNvPr id="129" name="Time 7"/>
          <p:cNvSpPr/>
          <p:nvPr/>
        </p:nvSpPr>
        <p:spPr>
          <a:xfrm>
            <a:off x="640080" y="507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13:00</a:t>
            </a:r>
            <a:endParaRPr lang="en-US" sz="1300" dirty="0"/>
          </a:p>
        </p:txBody>
      </p:sp>
      <p:sp>
        <p:nvSpPr>
          <p:cNvPr id="130" name="RowTitle 7"/>
          <p:cNvSpPr/>
          <p:nvPr/>
        </p:nvSpPr>
        <p:spPr>
          <a:xfrm>
            <a:off x="2194560" y="508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Lightning talk #2: Tobi Kasali</a:t>
            </a:r>
            <a:endParaRPr lang="en-US" sz="1400" dirty="0"/>
          </a:p>
        </p:txBody>
      </p:sp>
      <p:sp>
        <p:nvSpPr>
          <p:cNvPr id="131" name="RowSub 7"/>
          <p:cNvSpPr/>
          <p:nvPr/>
        </p:nvSpPr>
        <p:spPr>
          <a:xfrm>
            <a:off x="2194560" y="530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United Nations uses data &amp; AI for global impact</a:t>
            </a:r>
            <a:endParaRPr lang="en-US" sz="1100" dirty="0"/>
          </a:p>
        </p:txBody>
      </p:sp>
      <p:sp>
        <p:nvSpPr>
          <p:cNvPr id="132" name="Chip 8"/>
          <p:cNvSpPr/>
          <p:nvPr/>
        </p:nvSpPr>
        <p:spPr>
          <a:xfrm>
            <a:off x="640080" y="554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sp>
        <p:nvSpPr>
          <p:cNvPr id="133" name="Time 8"/>
          <p:cNvSpPr/>
          <p:nvPr/>
        </p:nvSpPr>
        <p:spPr>
          <a:xfrm>
            <a:off x="640080" y="554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13:10</a:t>
            </a:r>
            <a:endParaRPr lang="en-US" sz="1300" dirty="0"/>
          </a:p>
        </p:txBody>
      </p:sp>
      <p:sp>
        <p:nvSpPr>
          <p:cNvPr id="134" name="RowTitle 8"/>
          <p:cNvSpPr/>
          <p:nvPr/>
        </p:nvSpPr>
        <p:spPr>
          <a:xfrm>
            <a:off x="2194560" y="555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Hands-on: train your first model</a:t>
            </a:r>
            <a:endParaRPr lang="en-US" sz="1400" dirty="0"/>
          </a:p>
        </p:txBody>
      </p:sp>
      <p:sp>
        <p:nvSpPr>
          <p:cNvPr id="135" name="RowSub 8"/>
          <p:cNvSpPr/>
          <p:nvPr/>
        </p:nvSpPr>
        <p:spPr>
          <a:xfrm>
            <a:off x="2194560" y="577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film you watched + the essays you wrote</a:t>
            </a:r>
            <a:endParaRPr lang="en-US" sz="1100" dirty="0"/>
          </a:p>
        </p:txBody>
      </p:sp>
      <p:sp>
        <p:nvSpPr>
          <p:cNvPr id="136" name="Chip 9"/>
          <p:cNvSpPr/>
          <p:nvPr/>
        </p:nvSpPr>
        <p:spPr>
          <a:xfrm>
            <a:off x="640080" y="6010000"/>
            <a:ext cx="1371600" cy="400000"/>
          </a:xfrm>
          <a:prstGeom prst="roundRect">
            <a:avLst>
              <a:gd name="adj" fmla="val 13333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sp>
        <p:nvSpPr>
          <p:cNvPr id="137" name="Time 9"/>
          <p:cNvSpPr/>
          <p:nvPr/>
        </p:nvSpPr>
        <p:spPr>
          <a:xfrm>
            <a:off x="640080" y="601000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13:45</a:t>
            </a:r>
            <a:endParaRPr lang="en-US" sz="1300" dirty="0"/>
          </a:p>
        </p:txBody>
      </p:sp>
      <p:sp>
        <p:nvSpPr>
          <p:cNvPr id="138" name="RowTitle 9"/>
          <p:cNvSpPr/>
          <p:nvPr/>
        </p:nvSpPr>
        <p:spPr>
          <a:xfrm>
            <a:off x="2194560" y="6025000"/>
            <a:ext cx="96012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 wrap</a:t>
            </a:r>
            <a:endParaRPr lang="en-US" sz="1400" dirty="0"/>
          </a:p>
        </p:txBody>
      </p:sp>
      <p:sp>
        <p:nvSpPr>
          <p:cNvPr id="139" name="RowSub 9"/>
          <p:cNvSpPr/>
          <p:nvPr/>
        </p:nvSpPr>
        <p:spPr>
          <a:xfrm>
            <a:off x="2194560" y="6245000"/>
            <a:ext cx="9601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questions, what to bring tomorrow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06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house_rules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we'll work this week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933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92024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anything, anytime. There are no dumb questions in this room.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67004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are how you learn. Errors and red text are good news.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93008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3419856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next to you. Explaining something is the fastest way to learn it.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42816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416966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for code, not for chats. Stay present so we can move fast together.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92624"/>
            <a:ext cx="457200" cy="457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1600" y="491947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curious in public. Wonder out loud and share what you notice.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07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the_thinking_game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watched: The Thinking Game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434840"/>
          </a:xfrm>
          <a:prstGeom prst="roundRect">
            <a:avLst>
              <a:gd name="adj" fmla="val 2062"/>
            </a:avLst>
          </a:prstGeom>
          <a:solidFill>
            <a:srgbClr val="313244"/>
          </a:solidFill>
          <a:ln w="19050">
            <a:solidFill>
              <a:srgbClr val="CBA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documentary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Thinking Game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Greg Kohs  // 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    </a:t>
            </a: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Demis Hassabis &amp; Google DeepMind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   </a:t>
            </a: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AlphaFold cracks protein folding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real-world  </a:t>
            </a: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Nobel Prize in Chemistry, 2024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    </a:t>
            </a: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 minutes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     </a:t>
            </a: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rewatch on DeepMind's YouTube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5166360" cy="4434840"/>
          </a:xfrm>
          <a:prstGeom prst="roundRect">
            <a:avLst>
              <a:gd name="adj" fmla="val 2062"/>
            </a:avLst>
          </a:prstGeom>
          <a:solidFill>
            <a:srgbClr val="313244"/>
          </a:solidFill>
          <a:ln w="19050">
            <a:solidFill>
              <a:srgbClr val="A6E3A1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5740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06640" y="20574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asked you to watch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29400" y="28346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predicted the 3D structure of 200 million proteins, a problem biologists wrestled with for 50 years.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29400" y="41148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shows the real story: years of failures, a small team, a hunch that paid off, and a Nobel Prize from work people called impossible.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29400" y="5577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real ML breakthroughs look like.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08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discussion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Now, talk to each other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did the film leave you thinking about?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1965960"/>
            <a:ext cx="9646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solved a 50-year problem. What problem in your world would you point an AI at?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535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834640"/>
            <a:ext cx="9646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failed many times before AlphaFold worked. What kept them going? Have you ever stuck with something that long?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221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703320"/>
            <a:ext cx="9646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Hassabis says: "Solve intelligence, then use it to solve everything else." Do you think that's the right goal? Why or why not?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13244"/>
          </a:solidFill>
          <a:ln w="15240">
            <a:solidFill>
              <a:srgbClr val="89B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9087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4572000"/>
            <a:ext cx="9646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you think should decide what kinds of AI get built, and how they're used?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313244"/>
          </a:solidFill>
          <a:ln w="15240">
            <a:solidFill>
              <a:srgbClr val="F38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5595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83080" y="5440680"/>
            <a:ext cx="9646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joined DeepMind tomorrow with no constraints, what would you work on?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09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ml_in_2036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by 2036?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essays made predictions. here are six of ours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co-scientists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606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already cracked a 50-year biology problem. Next: helping invent drugs, materials, energy sources.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313244"/>
          </a:solidFill>
          <a:ln w="15240">
            <a:solidFill>
              <a:srgbClr val="F9E2A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19456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Personalised medicine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212080" y="2606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 tuned to your DNA, your history, your lifestyle. Not the average patient.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92440" y="192024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19456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translation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052560" y="2606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anyone in any language, live, no app needed. Already starting in earbuds today.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11480" y="397764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5196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Climate models that work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371600" y="4663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extreme weather days earlier. Optimise grids, farms, shipping in real time.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251960" y="397764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313244"/>
          </a:solidFill>
          <a:ln w="15240">
            <a:solidFill>
              <a:srgbClr val="89B4F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251960"/>
            <a:ext cx="594360" cy="5943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tutors for everyone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212080" y="4663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patient, expert tutor in your pocket. Already happening. Just much better by 2036.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092440" y="397764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313244"/>
          </a:solidFill>
          <a:ln w="15240">
            <a:solidFill>
              <a:srgbClr val="F38BA8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251960"/>
            <a:ext cx="594360" cy="5943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Robots that adapt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9052560" y="4663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robots do one job. Tomorrow's learn new tasks the way you would, on the job.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40080" y="6080760"/>
            <a:ext cx="10881360" cy="411480"/>
          </a:xfrm>
          <a:prstGeom prst="roundRect">
            <a:avLst>
              <a:gd name="adj" fmla="val 13333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 are predictions, not promises. some will land sooner, some later, some not at all. </a:t>
            </a:r>
            <a:r>
              <a:rPr lang="en-US" sz="12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you'll help decide which.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10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1612880" cy="365760"/>
          </a:xfrm>
          <a:prstGeom prst="rect">
            <a:avLst/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84632"/>
            <a:ext cx="128016" cy="128016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8463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8463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114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~/part_01.py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 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kern="0" spc="1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ML?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tagline</a:t>
            </a:r>
            <a:r>
              <a:rPr lang="en-US" sz="2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"Teaching computers to learn from data"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11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definition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machine learning?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0" y="1828800"/>
            <a:ext cx="8138160" cy="2011680"/>
          </a:xfrm>
          <a:prstGeom prst="roundRect">
            <a:avLst>
              <a:gd name="adj" fmla="val 5455"/>
            </a:avLst>
          </a:prstGeom>
          <a:solidFill>
            <a:srgbClr val="313244"/>
          </a:solidFill>
          <a:ln w="19050">
            <a:solidFill>
              <a:srgbClr val="CBA6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0" y="1965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is...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0" y="233172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find patterns in data so they can make decisions without being told every rule.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instead of writing 1,000 if/else rules to tell a cat from a dog,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 show the computer 10,000 photos and it learns the difference.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8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learn_from(</a:t>
            </a:r>
            <a:r>
              <a:rPr lang="en-US" sz="18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lots_of_examples</a:t>
            </a:r>
            <a:r>
              <a:rPr lang="en-US" sz="1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12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old_way_vs_new_way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code vs machine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 way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programming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hand-write every rule. The computer just follows them.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313244"/>
          </a:solidFill>
          <a:ln w="19050">
            <a:solidFill>
              <a:srgbClr val="CBA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03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12280" y="3108960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29400" y="5394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it examples. The computer figures out the rules itself.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13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three_flavours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types of machine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148840"/>
            <a:ext cx="1005840" cy="1005840"/>
          </a:xfrm>
          <a:prstGeom prst="ellipse">
            <a:avLst/>
          </a:prstGeom>
          <a:solidFill>
            <a:srgbClr val="181825"/>
          </a:solidFill>
          <a:ln w="19050">
            <a:solidFill>
              <a:srgbClr val="A6E3A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235915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Supervised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learn from labelled examples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251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the model the right answers during training. Best for predicting things we already have data for.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557784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577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</a:t>
            </a: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spam vs not spam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18288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15240">
            <a:solidFill>
              <a:srgbClr val="89B4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2148840"/>
            <a:ext cx="1005840" cy="1005840"/>
          </a:xfrm>
          <a:prstGeom prst="ellipse">
            <a:avLst/>
          </a:prstGeom>
          <a:solidFill>
            <a:srgbClr val="181825"/>
          </a:solidFill>
          <a:ln w="19050">
            <a:solidFill>
              <a:srgbClr val="89B4F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359152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484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Unsupervised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43484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patterns on its own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480560" y="4251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given. The model groups similar things together or spots structure we missed.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26280" y="557784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5577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</a:t>
            </a:r>
            <a:r>
              <a:rPr lang="en-US" sz="13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46720" y="182880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372600" y="2148840"/>
            <a:ext cx="1005840" cy="1005840"/>
          </a:xfrm>
          <a:prstGeom prst="ellipse">
            <a:avLst/>
          </a:prstGeom>
          <a:solidFill>
            <a:srgbClr val="181825"/>
          </a:solidFill>
          <a:ln w="19050">
            <a:solidFill>
              <a:srgbClr val="FAB387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2359152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Reinforcement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2296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learn by trial and error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275320" y="4251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takes actions, gets rewards or penalties, and learns the strategy that wins.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321040" y="557784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321040" y="5577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</a:t>
            </a: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game-playing AI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14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ml_everywhere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is already in your pocket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45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TikTok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82880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your For You page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8288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94560"/>
            <a:ext cx="1005840" cy="1005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66928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your Discover Weekly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92440" y="18288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194560"/>
            <a:ext cx="1005840" cy="1005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0" y="2148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Instagram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50976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filters and ranking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11480" y="37947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60520"/>
            <a:ext cx="1005840" cy="1005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Maps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82880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traffic and ETAs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251960" y="37947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160520"/>
            <a:ext cx="1005840" cy="10058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566928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next word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092440" y="37947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160520"/>
            <a:ext cx="1005840" cy="10058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50976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bank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9509760" y="4663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fraud on your card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15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1612880" cy="365760"/>
          </a:xfrm>
          <a:prstGeom prst="rect">
            <a:avLst/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84632"/>
            <a:ext cx="128016" cy="128016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8463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8463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114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~/part_02.py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 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kern="0" spc="1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Data, the fuel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tagline</a:t>
            </a:r>
            <a:r>
              <a:rPr lang="en-US" sz="2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good data, no good model"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16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data_is_fuel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is the fuel of ML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219456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91840" y="1920240"/>
            <a:ext cx="8229600" cy="2377440"/>
          </a:xfrm>
          <a:prstGeom prst="roundRect">
            <a:avLst>
              <a:gd name="adj" fmla="val 4615"/>
            </a:avLst>
          </a:prstGeom>
          <a:solidFill>
            <a:srgbClr val="313244"/>
          </a:solidFill>
          <a:ln w="19050">
            <a:solidFill>
              <a:srgbClr val="A6E3A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6616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short version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24688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data, there's no machine learning. The model isn't smart on its own. It only knows what its data has shown it.</a:t>
            </a:r>
          </a:p>
          <a:p>
            <a:pPr marL="0" indent="0">
              <a:buNone/>
            </a:pPr>
            <a:endParaRPr lang="en-US" sz="2200" dirty="0">
              <a:solidFill>
                <a:srgbClr val="CDD6F4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rgbClr val="CDD6F4"/>
                </a:solidFill>
                <a:latin typeface="Calibri" pitchFamily="34" charset="0"/>
                <a:cs typeface="Calibri" pitchFamily="34" charset="-120"/>
              </a:rPr>
              <a:t>Data.head</a:t>
            </a:r>
            <a:r>
              <a:rPr lang="en-US" sz="2200" dirty="0">
                <a:solidFill>
                  <a:srgbClr val="CDD6F4"/>
                </a:solidFill>
                <a:latin typeface="Calibri" pitchFamily="34" charset="0"/>
                <a:cs typeface="Calibri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alibri" pitchFamily="34" charset="0"/>
                <a:cs typeface="Calibri" pitchFamily="34" charset="-120"/>
              </a:rPr>
              <a:t>Texts, voice, video, images, tweets, pdfs, 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754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5440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usually beats a fancier model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26280" y="4754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26280" y="5440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ML project is data work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4754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412480" y="5440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to check when things go wrong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17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data_shapes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shapes of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313244"/>
          </a:solidFill>
          <a:ln w="19050">
            <a:solidFill>
              <a:srgbClr val="89B4F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 and columns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spreadsheets and databases. Clean fields, easy to filter and sort.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206240"/>
          <a:ext cx="4617720" cy="1097280"/>
        </p:xfrm>
        <a:graphic>
          <a:graphicData uri="http://schemas.openxmlformats.org/drawingml/2006/table">
            <a:tbl>
              <a:tblPr/>
              <a:tblGrid>
                <a:gridCol w="153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A6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A6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bpm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BA6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plays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Track 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6E3A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6E3A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Track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6E3A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A6E3A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355080" y="182880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313244"/>
          </a:solidFill>
          <a:ln w="19050">
            <a:solidFill>
              <a:srgbClr val="F38B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03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6640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Unstructured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6629400" y="2834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raw and messy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629400" y="32461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videos, voice notes, free text. Rich, but needs work before a model can use it.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629400" y="42976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9" name="Text 11"/>
          <p:cNvSpPr/>
          <p:nvPr/>
        </p:nvSpPr>
        <p:spPr>
          <a:xfrm>
            <a:off x="662940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0" y="42976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2960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notes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829800" y="42976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829800" y="4297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tweets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629400" y="48463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29400" y="4846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0" y="484632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29600" y="4846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18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vocab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and labels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313244"/>
          </a:solidFill>
          <a:ln w="15240">
            <a:solidFill>
              <a:srgbClr val="F9E2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inputs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about each example. The clues the model uses to predict.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predict. The answer the model is trying to learn.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predicting if a song will be a hit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54880"/>
          <a:ext cx="11155680" cy="11521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9E2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9E2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energy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9E2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danceability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A6E3A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hit?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6C708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A6E3A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DD6F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6C708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38B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19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data_quality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Garbage in, garbage out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2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your_data</a:t>
            </a:r>
            <a:r>
              <a:rPr lang="en-US" sz="26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.is_garbage(): 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model.predictions </a:t>
            </a:r>
            <a:r>
              <a:rPr lang="en-US" sz="26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26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"garbage"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2160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labels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663440" y="3566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half your spam emails are labelled as 'not spam', the model learns the wrong thing.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480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817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526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confuse most models. We have to decide: drop, fill, or impute.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54406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313244"/>
          </a:solidFill>
          <a:ln w="6350">
            <a:solidFill>
              <a:srgbClr val="45475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418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5486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Biased samples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63440" y="5486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data only includes one type of person or place, the model only works for them.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20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worked_example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Walkthrough: will this song be a hit?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313244"/>
          </a:solidFill>
          <a:ln w="15240">
            <a:solidFill>
              <a:srgbClr val="F9E2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collect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danceability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loudness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is_explicit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794760"/>
            <a:ext cx="274320" cy="27432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79476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80560" y="192024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313244"/>
          </a:solidFill>
          <a:ln w="19050">
            <a:solidFill>
              <a:srgbClr val="CBA6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model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634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learns</a:t>
            </a:r>
            <a:endParaRPr lang="en-US" sz="1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291840"/>
            <a:ext cx="1280160" cy="1280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09160" y="47548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thousands of past songs with their hit/flop labels, then learns which feature combinations matter.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321040" y="192024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313244"/>
          </a:solidFill>
          <a:ln w="19050">
            <a:solidFill>
              <a:srgbClr val="A6E3A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prediction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0392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get out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50392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</a:t>
            </a:r>
            <a:endParaRPr lang="en-US" sz="6400" dirty="0"/>
          </a:p>
        </p:txBody>
      </p:sp>
      <p:sp>
        <p:nvSpPr>
          <p:cNvPr id="24" name="Text 19"/>
          <p:cNvSpPr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probability: 0.87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50392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"hit"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21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hands_on_01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Hands-on: train your first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81825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</a:t>
            </a:r>
            <a:r>
              <a:rPr lang="en-US" sz="16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teachablemachine.withgoogle.com</a:t>
            </a:r>
            <a:r>
              <a:rPr lang="en-US" sz="16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in pairs, your webcam, ~30 minutes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runbook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313244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site, click "Image Project (Standard)"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313244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8444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58444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three gestures, e.g. thumbs up / thumbs down / wave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51376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313244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5137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151376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~30 webcam samples for each class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18304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313244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183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18304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"Train Model" and wait ~30 seconds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85232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313244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852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285232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live. Then try to break it.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0" y="2606040"/>
            <a:ext cx="4297680" cy="3246120"/>
          </a:xfrm>
          <a:prstGeom prst="roundRect">
            <a:avLst>
              <a:gd name="adj" fmla="val 2817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reflect, then move 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questions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3611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your features? What was your label?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0" y="4389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model performs best? Why?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80960" y="5166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your partner tries it?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3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tomorrow: </a:t>
            </a:r>
            <a:r>
              <a:rPr lang="en-US" sz="13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 the same thing from code, and see exactly what happened under the hood.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22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1612880" cy="365760"/>
          </a:xfrm>
          <a:prstGeom prst="rect">
            <a:avLst/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84632"/>
            <a:ext cx="128016" cy="128016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8463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8463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114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~/part_03.py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 03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kern="0" spc="10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Wrapping up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tagline</a:t>
            </a:r>
            <a:r>
              <a:rPr lang="en-US" sz="2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"Three things to take home"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25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day_01_recap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things to take home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2057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= learning from data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17520" y="2468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every rule, we show the computer examples and let it find the patterns.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520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36576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3520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has features and labels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017520" y="3931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the clues we give the model. Labels are the answers we want it to learn.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9834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51206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17520" y="4983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is already part of your life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017520" y="5394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TikTok to Google Maps. Now you're learning how it actually works underneath.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26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claude_code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Code: AI that codes with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what you want in plain English. it writes the Python.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1825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"Train a classifier on the Palmer Penguins dataset.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Split 80/20, use k-NN, report accuracy and a confusion matrix."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the script, runs it, shows the result, explains each step.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313244"/>
          </a:solidFill>
          <a:ln w="15240">
            <a:solidFill>
              <a:srgbClr val="89B4F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388620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starter code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5166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project. Get a working notebook in seconds.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51960" y="3611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88620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your model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26280" y="5166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error. It explains what broke and proposes a fix.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46720" y="36118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313244"/>
          </a:solidFill>
          <a:ln w="15240">
            <a:solidFill>
              <a:srgbClr val="A6E3A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88620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anyone's code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21040" y="5166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file you don't understand. Ask. Read the explanation in plain English.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Claude Code yet? </a:t>
            </a: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claude.ai</a:t>
            </a: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works the same way in your browser. start there.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23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share_your_work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ship what you build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public home for your projects. free, forever.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313244"/>
          </a:solidFill>
          <a:ln w="19050">
            <a:solidFill>
              <a:srgbClr val="CBA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post your projects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that proves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 with code and a README beats "I learned ML" on a CV.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employers look here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for tech roles. They want to see what you've actually built.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hosting, public link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people a URL. They see your code, your story, your screenshots.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own 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669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repo will look rough. Your tenth will look like a developer's. That's the point.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92024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181825"/>
          </a:solidFill>
          <a:ln w="19050">
            <a:solidFill>
              <a:srgbClr val="A6E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103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penguin-classifier/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5603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</a:t>
            </a: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80720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what, why, how to run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30632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📓 </a:t>
            </a:r>
            <a:r>
              <a:rPr lang="en-US" sz="13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notebook.ipynb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33101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your Colab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35661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📊 </a:t>
            </a: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81304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charts, metrics, screenshots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40690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📦 </a:t>
            </a:r>
            <a:r>
              <a:rPr lang="en-US" sz="13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431596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what to install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45720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🪪 </a:t>
            </a:r>
            <a:r>
              <a:rPr lang="en-US" sz="1300" b="1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481888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tells people they can use 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5715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you finish this week </a:t>
            </a:r>
            <a:r>
              <a:rPr lang="en-US" sz="13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your GitHub.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24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tomorrow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02: your first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313244"/>
          </a:solidFill>
          <a:ln w="15240">
            <a:solidFill>
              <a:srgbClr val="CBA6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488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do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real ML notebook in your browser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703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dataset, look at it, and clean it 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first model in a few lines of Python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983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well it actually performs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55080" y="1874520"/>
            <a:ext cx="5166360" cy="4297680"/>
          </a:xfrm>
          <a:prstGeom prst="roundRect">
            <a:avLst>
              <a:gd name="adj" fmla="val 2128"/>
            </a:avLst>
          </a:prstGeom>
          <a:solidFill>
            <a:srgbClr val="313244"/>
          </a:solidFill>
          <a:ln w="15240">
            <a:solidFill>
              <a:srgbClr val="FAB38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488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1488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bring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629400" y="3063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(Chromebook is fine, Google account ready)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29400" y="3703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and pen for sketching ideas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29400" y="4343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and questions from today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629400" y="4983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5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friend, if they want to join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27 /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1612880" cy="365760"/>
          </a:xfrm>
          <a:prstGeom prst="rect">
            <a:avLst/>
          </a:prstGeom>
          <a:solidFill>
            <a:srgbClr val="181825"/>
          </a:solidFill>
          <a:ln w="635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84632"/>
            <a:ext cx="128016" cy="128016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48463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48463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114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~/questions.py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floor is yours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you_have_questions: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</a:t>
            </a:r>
            <a:r>
              <a:rPr lang="en-US" sz="2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2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</a:t>
            </a:r>
            <a:r>
              <a:rPr lang="en-US" sz="2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you tomorrow at 10:00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BUILD_THE_FUTURE.py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01  //  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8906</TotalTime>
  <Words>2614</Words>
  <Application>Microsoft Macintosh PowerPoint</Application>
  <PresentationFormat>Widescreen</PresentationFormat>
  <Paragraphs>423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THE FUTURE - Day 1</dc:title>
  <dc:subject>PptxGenJS Presentation</dc:subject>
  <dc:creator>Oluwaseun, Startup Grind Aberdeen x CREED</dc:creator>
  <cp:lastModifiedBy>OLABODE, OLUWASEUN (PGR)</cp:lastModifiedBy>
  <cp:revision>5</cp:revision>
  <dcterms:created xsi:type="dcterms:W3CDTF">2026-06-07T18:51:55Z</dcterms:created>
  <dcterms:modified xsi:type="dcterms:W3CDTF">2026-06-25T07:08:44Z</dcterms:modified>
</cp:coreProperties>
</file>